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C2828B-98F1-4F51-B60B-89FCCC80797A}" v="20" dt="2026-03-26T03:28:49.3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0" autoAdjust="0"/>
    <p:restoredTop sz="63460" autoAdjust="0"/>
  </p:normalViewPr>
  <p:slideViewPr>
    <p:cSldViewPr snapToGrid="0">
      <p:cViewPr>
        <p:scale>
          <a:sx n="56" d="100"/>
          <a:sy n="56" d="100"/>
        </p:scale>
        <p:origin x="1568"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 Dillon" userId="2f316d545b74387c" providerId="LiveId" clId="{F4ABB602-C5FA-42B2-A56C-557EA248F6B7}"/>
    <pc:docChg chg="undo custSel modSld">
      <pc:chgData name="Alex Dillon" userId="2f316d545b74387c" providerId="LiveId" clId="{F4ABB602-C5FA-42B2-A56C-557EA248F6B7}" dt="2026-03-26T15:09:03.635" v="314" actId="20577"/>
      <pc:docMkLst>
        <pc:docMk/>
      </pc:docMkLst>
      <pc:sldChg chg="addSp delSp modSp mod setBg modNotesTx">
        <pc:chgData name="Alex Dillon" userId="2f316d545b74387c" providerId="LiveId" clId="{F4ABB602-C5FA-42B2-A56C-557EA248F6B7}" dt="2026-03-26T15:09:03.635" v="314" actId="20577"/>
        <pc:sldMkLst>
          <pc:docMk/>
          <pc:sldMk cId="1462840013" sldId="257"/>
        </pc:sldMkLst>
        <pc:spChg chg="mod">
          <ac:chgData name="Alex Dillon" userId="2f316d545b74387c" providerId="LiveId" clId="{F4ABB602-C5FA-42B2-A56C-557EA248F6B7}" dt="2026-03-25T17:57:29.716" v="19" actId="1076"/>
          <ac:spMkLst>
            <pc:docMk/>
            <pc:sldMk cId="1462840013" sldId="257"/>
            <ac:spMk id="2" creationId="{A15C8194-A462-EB5E-6E4B-9E892186C03C}"/>
          </ac:spMkLst>
        </pc:spChg>
        <pc:spChg chg="add del mod">
          <ac:chgData name="Alex Dillon" userId="2f316d545b74387c" providerId="LiveId" clId="{F4ABB602-C5FA-42B2-A56C-557EA248F6B7}" dt="2026-03-25T17:56:54.063" v="13" actId="478"/>
          <ac:spMkLst>
            <pc:docMk/>
            <pc:sldMk cId="1462840013" sldId="257"/>
            <ac:spMk id="9" creationId="{B6417985-3B29-6C42-C59B-723AC5ADBA11}"/>
          </ac:spMkLst>
        </pc:spChg>
        <pc:spChg chg="del">
          <ac:chgData name="Alex Dillon" userId="2f316d545b74387c" providerId="LiveId" clId="{F4ABB602-C5FA-42B2-A56C-557EA248F6B7}" dt="2026-03-25T17:55:27.430" v="0" actId="478"/>
          <ac:spMkLst>
            <pc:docMk/>
            <pc:sldMk cId="1462840013" sldId="257"/>
            <ac:spMk id="10" creationId="{8E5D6E42-8365-DCD0-A440-A77B85F9C051}"/>
          </ac:spMkLst>
        </pc:spChg>
        <pc:spChg chg="add">
          <ac:chgData name="Alex Dillon" userId="2f316d545b74387c" providerId="LiveId" clId="{F4ABB602-C5FA-42B2-A56C-557EA248F6B7}" dt="2026-03-25T17:56:51.458" v="12" actId="26606"/>
          <ac:spMkLst>
            <pc:docMk/>
            <pc:sldMk cId="1462840013" sldId="257"/>
            <ac:spMk id="11" creationId="{2151139A-886F-4B97-8815-729AD3831BBD}"/>
          </ac:spMkLst>
        </pc:spChg>
        <pc:spChg chg="add">
          <ac:chgData name="Alex Dillon" userId="2f316d545b74387c" providerId="LiveId" clId="{F4ABB602-C5FA-42B2-A56C-557EA248F6B7}" dt="2026-03-25T17:56:51.458" v="12" actId="26606"/>
          <ac:spMkLst>
            <pc:docMk/>
            <pc:sldMk cId="1462840013" sldId="257"/>
            <ac:spMk id="12" creationId="{AB5E08C4-8CDD-4623-A5B8-E998C6DEE3B7}"/>
          </ac:spMkLst>
        </pc:spChg>
        <pc:spChg chg="add">
          <ac:chgData name="Alex Dillon" userId="2f316d545b74387c" providerId="LiveId" clId="{F4ABB602-C5FA-42B2-A56C-557EA248F6B7}" dt="2026-03-25T17:56:51.458" v="12" actId="26606"/>
          <ac:spMkLst>
            <pc:docMk/>
            <pc:sldMk cId="1462840013" sldId="257"/>
            <ac:spMk id="13" creationId="{AFFC87AC-C919-4FE5-BAC3-39509E001152}"/>
          </ac:spMkLst>
        </pc:spChg>
        <pc:spChg chg="add del">
          <ac:chgData name="Alex Dillon" userId="2f316d545b74387c" providerId="LiveId" clId="{F4ABB602-C5FA-42B2-A56C-557EA248F6B7}" dt="2026-03-25T17:56:22.844" v="9" actId="26606"/>
          <ac:spMkLst>
            <pc:docMk/>
            <pc:sldMk cId="1462840013" sldId="257"/>
            <ac:spMk id="14" creationId="{2151139A-886F-4B97-8815-729AD3831BBD}"/>
          </ac:spMkLst>
        </pc:spChg>
        <pc:spChg chg="add">
          <ac:chgData name="Alex Dillon" userId="2f316d545b74387c" providerId="LiveId" clId="{F4ABB602-C5FA-42B2-A56C-557EA248F6B7}" dt="2026-03-25T17:56:51.458" v="12" actId="26606"/>
          <ac:spMkLst>
            <pc:docMk/>
            <pc:sldMk cId="1462840013" sldId="257"/>
            <ac:spMk id="15" creationId="{7D0659F6-0853-468D-B1B2-44FDBE98B80F}"/>
          </ac:spMkLst>
        </pc:spChg>
        <pc:spChg chg="add del">
          <ac:chgData name="Alex Dillon" userId="2f316d545b74387c" providerId="LiveId" clId="{F4ABB602-C5FA-42B2-A56C-557EA248F6B7}" dt="2026-03-25T17:56:22.844" v="9" actId="26606"/>
          <ac:spMkLst>
            <pc:docMk/>
            <pc:sldMk cId="1462840013" sldId="257"/>
            <ac:spMk id="16" creationId="{AB5E08C4-8CDD-4623-A5B8-E998C6DEE3B7}"/>
          </ac:spMkLst>
        </pc:spChg>
        <pc:spChg chg="add">
          <ac:chgData name="Alex Dillon" userId="2f316d545b74387c" providerId="LiveId" clId="{F4ABB602-C5FA-42B2-A56C-557EA248F6B7}" dt="2026-03-25T17:56:51.458" v="12" actId="26606"/>
          <ac:spMkLst>
            <pc:docMk/>
            <pc:sldMk cId="1462840013" sldId="257"/>
            <ac:spMk id="17" creationId="{15F33878-D502-4FFA-8ACE-F2AECDB2A23F}"/>
          </ac:spMkLst>
        </pc:spChg>
        <pc:spChg chg="add del">
          <ac:chgData name="Alex Dillon" userId="2f316d545b74387c" providerId="LiveId" clId="{F4ABB602-C5FA-42B2-A56C-557EA248F6B7}" dt="2026-03-25T17:56:22.844" v="9" actId="26606"/>
          <ac:spMkLst>
            <pc:docMk/>
            <pc:sldMk cId="1462840013" sldId="257"/>
            <ac:spMk id="18" creationId="{15F33878-D502-4FFA-8ACE-F2AECDB2A23F}"/>
          </ac:spMkLst>
        </pc:spChg>
        <pc:spChg chg="add del">
          <ac:chgData name="Alex Dillon" userId="2f316d545b74387c" providerId="LiveId" clId="{F4ABB602-C5FA-42B2-A56C-557EA248F6B7}" dt="2026-03-25T17:56:22.844" v="9" actId="26606"/>
          <ac:spMkLst>
            <pc:docMk/>
            <pc:sldMk cId="1462840013" sldId="257"/>
            <ac:spMk id="20" creationId="{D3539FEE-81D3-4406-802E-60B20B16F4F6}"/>
          </ac:spMkLst>
        </pc:spChg>
        <pc:spChg chg="add del">
          <ac:chgData name="Alex Dillon" userId="2f316d545b74387c" providerId="LiveId" clId="{F4ABB602-C5FA-42B2-A56C-557EA248F6B7}" dt="2026-03-25T17:56:22.844" v="9" actId="26606"/>
          <ac:spMkLst>
            <pc:docMk/>
            <pc:sldMk cId="1462840013" sldId="257"/>
            <ac:spMk id="22" creationId="{DC701763-729E-462F-A5A8-E0DEFEB1E2E4}"/>
          </ac:spMkLst>
        </pc:spChg>
        <pc:spChg chg="add">
          <ac:chgData name="Alex Dillon" userId="2f316d545b74387c" providerId="LiveId" clId="{F4ABB602-C5FA-42B2-A56C-557EA248F6B7}" dt="2026-03-25T17:56:51.458" v="12" actId="26606"/>
          <ac:spMkLst>
            <pc:docMk/>
            <pc:sldMk cId="1462840013" sldId="257"/>
            <ac:spMk id="24" creationId="{977ACDD7-882D-4B81-A213-84C82B96B01E}"/>
          </ac:spMkLst>
        </pc:spChg>
        <pc:graphicFrameChg chg="mod ord modGraphic">
          <ac:chgData name="Alex Dillon" userId="2f316d545b74387c" providerId="LiveId" clId="{F4ABB602-C5FA-42B2-A56C-557EA248F6B7}" dt="2026-03-25T17:58:08.951" v="28" actId="1076"/>
          <ac:graphicFrameMkLst>
            <pc:docMk/>
            <pc:sldMk cId="1462840013" sldId="257"/>
            <ac:graphicFrameMk id="8" creationId="{92336296-2929-A23F-18C3-9FACC2B30636}"/>
          </ac:graphicFrameMkLst>
        </pc:graphicFrameChg>
        <pc:picChg chg="add mod">
          <ac:chgData name="Alex Dillon" userId="2f316d545b74387c" providerId="LiveId" clId="{F4ABB602-C5FA-42B2-A56C-557EA248F6B7}" dt="2026-03-25T17:57:49.639" v="25" actId="1076"/>
          <ac:picMkLst>
            <pc:docMk/>
            <pc:sldMk cId="1462840013" sldId="257"/>
            <ac:picMk id="4" creationId="{5CFE325D-E7B6-C9A9-A1AF-1FD5675117BA}"/>
          </ac:picMkLst>
        </pc:picChg>
      </pc:sldChg>
      <pc:sldChg chg="addSp delSp modSp mod modNotesTx">
        <pc:chgData name="Alex Dillon" userId="2f316d545b74387c" providerId="LiveId" clId="{F4ABB602-C5FA-42B2-A56C-557EA248F6B7}" dt="2026-03-26T03:29:31.399" v="267" actId="20577"/>
        <pc:sldMkLst>
          <pc:docMk/>
          <pc:sldMk cId="4074025256" sldId="258"/>
        </pc:sldMkLst>
        <pc:spChg chg="del">
          <ac:chgData name="Alex Dillon" userId="2f316d545b74387c" providerId="LiveId" clId="{F4ABB602-C5FA-42B2-A56C-557EA248F6B7}" dt="2026-03-25T18:57:16.303" v="215" actId="478"/>
          <ac:spMkLst>
            <pc:docMk/>
            <pc:sldMk cId="4074025256" sldId="258"/>
            <ac:spMk id="20" creationId="{CAD330C0-B783-18C8-73B4-DF8A868AD33B}"/>
          </ac:spMkLst>
        </pc:spChg>
        <pc:picChg chg="add mod">
          <ac:chgData name="Alex Dillon" userId="2f316d545b74387c" providerId="LiveId" clId="{F4ABB602-C5FA-42B2-A56C-557EA248F6B7}" dt="2026-03-25T19:01:36.889" v="219" actId="1076"/>
          <ac:picMkLst>
            <pc:docMk/>
            <pc:sldMk cId="4074025256" sldId="258"/>
            <ac:picMk id="11" creationId="{142433AC-C000-5C84-3888-D55770DECB49}"/>
          </ac:picMkLst>
        </pc:picChg>
      </pc:sldChg>
      <pc:sldChg chg="modNotesTx">
        <pc:chgData name="Alex Dillon" userId="2f316d545b74387c" providerId="LiveId" clId="{F4ABB602-C5FA-42B2-A56C-557EA248F6B7}" dt="2026-03-25T18:41:41.977" v="115" actId="20577"/>
        <pc:sldMkLst>
          <pc:docMk/>
          <pc:sldMk cId="1113394532" sldId="259"/>
        </pc:sldMkLst>
      </pc:sldChg>
      <pc:sldChg chg="addSp delSp modSp mod modNotesTx">
        <pc:chgData name="Alex Dillon" userId="2f316d545b74387c" providerId="LiveId" clId="{F4ABB602-C5FA-42B2-A56C-557EA248F6B7}" dt="2026-03-25T18:50:06.917" v="214" actId="113"/>
        <pc:sldMkLst>
          <pc:docMk/>
          <pc:sldMk cId="1793700136" sldId="260"/>
        </pc:sldMkLst>
        <pc:spChg chg="mod">
          <ac:chgData name="Alex Dillon" userId="2f316d545b74387c" providerId="LiveId" clId="{F4ABB602-C5FA-42B2-A56C-557EA248F6B7}" dt="2026-03-25T18:45:48.990" v="168" actId="115"/>
          <ac:spMkLst>
            <pc:docMk/>
            <pc:sldMk cId="1793700136" sldId="260"/>
            <ac:spMk id="4" creationId="{1A9138B6-2149-4F7E-096C-2DE639A790D7}"/>
          </ac:spMkLst>
        </pc:spChg>
        <pc:spChg chg="mod">
          <ac:chgData name="Alex Dillon" userId="2f316d545b74387c" providerId="LiveId" clId="{F4ABB602-C5FA-42B2-A56C-557EA248F6B7}" dt="2026-03-25T18:46:04.286" v="169" actId="1076"/>
          <ac:spMkLst>
            <pc:docMk/>
            <pc:sldMk cId="1793700136" sldId="260"/>
            <ac:spMk id="7" creationId="{CA30DD27-C23A-FA8E-AD88-B4042387FEFA}"/>
          </ac:spMkLst>
        </pc:spChg>
        <pc:spChg chg="mod">
          <ac:chgData name="Alex Dillon" userId="2f316d545b74387c" providerId="LiveId" clId="{F4ABB602-C5FA-42B2-A56C-557EA248F6B7}" dt="2026-03-25T18:46:12.525" v="170" actId="1076"/>
          <ac:spMkLst>
            <pc:docMk/>
            <pc:sldMk cId="1793700136" sldId="260"/>
            <ac:spMk id="8" creationId="{4D27D78C-B514-4A85-C9F6-A02D3863A397}"/>
          </ac:spMkLst>
        </pc:spChg>
        <pc:spChg chg="mod">
          <ac:chgData name="Alex Dillon" userId="2f316d545b74387c" providerId="LiveId" clId="{F4ABB602-C5FA-42B2-A56C-557EA248F6B7}" dt="2026-03-25T18:45:48.990" v="168" actId="115"/>
          <ac:spMkLst>
            <pc:docMk/>
            <pc:sldMk cId="1793700136" sldId="260"/>
            <ac:spMk id="9" creationId="{2E18430E-EBE6-E92C-8282-E0BD18CEF940}"/>
          </ac:spMkLst>
        </pc:spChg>
        <pc:spChg chg="mod">
          <ac:chgData name="Alex Dillon" userId="2f316d545b74387c" providerId="LiveId" clId="{F4ABB602-C5FA-42B2-A56C-557EA248F6B7}" dt="2026-03-25T18:47:09.002" v="195" actId="20577"/>
          <ac:spMkLst>
            <pc:docMk/>
            <pc:sldMk cId="1793700136" sldId="260"/>
            <ac:spMk id="15" creationId="{939C0AFD-488C-EB99-E1E5-17C883D1FBDB}"/>
          </ac:spMkLst>
        </pc:spChg>
        <pc:grpChg chg="add del mod">
          <ac:chgData name="Alex Dillon" userId="2f316d545b74387c" providerId="LiveId" clId="{F4ABB602-C5FA-42B2-A56C-557EA248F6B7}" dt="2026-03-25T18:46:31.066" v="177" actId="478"/>
          <ac:grpSpMkLst>
            <pc:docMk/>
            <pc:sldMk cId="1793700136" sldId="260"/>
            <ac:grpSpMk id="14" creationId="{BB14DF47-C6BA-1F1D-25D0-7A604D5BD6D9}"/>
          </ac:grpSpMkLst>
        </pc:grpChg>
        <pc:cxnChg chg="add mod">
          <ac:chgData name="Alex Dillon" userId="2f316d545b74387c" providerId="LiveId" clId="{F4ABB602-C5FA-42B2-A56C-557EA248F6B7}" dt="2026-03-25T18:46:27.887" v="175" actId="1076"/>
          <ac:cxnSpMkLst>
            <pc:docMk/>
            <pc:sldMk cId="1793700136" sldId="260"/>
            <ac:cxnSpMk id="5" creationId="{C9D0EEE6-D52C-6372-2EEC-440E38DEDBDE}"/>
          </ac:cxnSpMkLst>
        </pc:cxnChg>
        <pc:cxnChg chg="add mod">
          <ac:chgData name="Alex Dillon" userId="2f316d545b74387c" providerId="LiveId" clId="{F4ABB602-C5FA-42B2-A56C-557EA248F6B7}" dt="2026-03-25T18:46:46.416" v="183" actId="1076"/>
          <ac:cxnSpMkLst>
            <pc:docMk/>
            <pc:sldMk cId="1793700136" sldId="260"/>
            <ac:cxnSpMk id="6" creationId="{3B6C778F-80E6-995B-547B-CB992020A52F}"/>
          </ac:cxnSpMkLst>
        </pc:cxnChg>
        <pc:cxnChg chg="del">
          <ac:chgData name="Alex Dillon" userId="2f316d545b74387c" providerId="LiveId" clId="{F4ABB602-C5FA-42B2-A56C-557EA248F6B7}" dt="2026-03-25T18:46:22.666" v="173" actId="478"/>
          <ac:cxnSpMkLst>
            <pc:docMk/>
            <pc:sldMk cId="1793700136" sldId="260"/>
            <ac:cxnSpMk id="11" creationId="{8FB2760C-6DAC-B6DD-AAF8-0FC81B34FEBE}"/>
          </ac:cxnSpMkLst>
        </pc:cxnChg>
        <pc:cxnChg chg="del">
          <ac:chgData name="Alex Dillon" userId="2f316d545b74387c" providerId="LiveId" clId="{F4ABB602-C5FA-42B2-A56C-557EA248F6B7}" dt="2026-03-25T18:46:33.436" v="178" actId="478"/>
          <ac:cxnSpMkLst>
            <pc:docMk/>
            <pc:sldMk cId="1793700136" sldId="260"/>
            <ac:cxnSpMk id="12" creationId="{268C3B08-24CD-62BE-1076-6B80A021AD22}"/>
          </ac:cxnSpMkLst>
        </pc:cxnChg>
        <pc:cxnChg chg="mod">
          <ac:chgData name="Alex Dillon" userId="2f316d545b74387c" providerId="LiveId" clId="{F4ABB602-C5FA-42B2-A56C-557EA248F6B7}" dt="2026-03-25T18:46:20.184" v="172" actId="1076"/>
          <ac:cxnSpMkLst>
            <pc:docMk/>
            <pc:sldMk cId="1793700136" sldId="260"/>
            <ac:cxnSpMk id="13" creationId="{D286AD68-6CA7-6687-EA17-0BC576E6AE4C}"/>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B4B73C-EF08-4BF8-B59B-AC6778B727AF}" type="datetimeFigureOut">
              <a:rPr lang="en-US" smtClean="0"/>
              <a:t>3/25/2026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963944-55EA-4A69-951C-D12E3BE503E5}" type="slidenum">
              <a:rPr lang="en-US" smtClean="0"/>
              <a:t>‹#›</a:t>
            </a:fld>
            <a:endParaRPr lang="en-US"/>
          </a:p>
        </p:txBody>
      </p:sp>
    </p:spTree>
    <p:extLst>
      <p:ext uri="{BB962C8B-B14F-4D97-AF65-F5344CB8AC3E}">
        <p14:creationId xmlns:p14="http://schemas.microsoft.com/office/powerpoint/2010/main" val="2356998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dataset comes from </a:t>
            </a:r>
            <a:r>
              <a:rPr lang="en-US" dirty="0" err="1"/>
              <a:t>PitchBook</a:t>
            </a:r>
            <a:r>
              <a:rPr lang="en-US" dirty="0"/>
              <a:t> and includes AI-related acquisitions made by GAFAM companies between 2020 and early 2026. Each row records the acquiring company, the acquired company, deal value when available, and the sector of AI in which the </a:t>
            </a:r>
            <a:r>
              <a:rPr lang="en-US"/>
              <a:t>company operates.</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Instead of analyzing these acquisitions only as rows in a spreadsheet, I convert the dataset into a knowledge graph. In the graph, companies are linked to the AI firms they acquire, and each acquired firm is categorized by its area of AI focus, such as Applications, Modeling, or Data, allowing us to analyze strategic investment patterns.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This allows me to represent acquisition strategy as a network of relationships across the AI ecosystem rather than as isolated transactions, and this structure is later used for embedding-based prediction using TransE.</a:t>
            </a:r>
          </a:p>
          <a:p>
            <a:endParaRPr lang="en-US" dirty="0"/>
          </a:p>
          <a:p>
            <a:endParaRPr lang="en-US" dirty="0"/>
          </a:p>
        </p:txBody>
      </p:sp>
      <p:sp>
        <p:nvSpPr>
          <p:cNvPr id="4" name="Slide Number Placeholder 3"/>
          <p:cNvSpPr>
            <a:spLocks noGrp="1"/>
          </p:cNvSpPr>
          <p:nvPr>
            <p:ph type="sldNum" sz="quarter" idx="5"/>
          </p:nvPr>
        </p:nvSpPr>
        <p:spPr/>
        <p:txBody>
          <a:bodyPr/>
          <a:lstStyle/>
          <a:p>
            <a:fld id="{DF963944-55EA-4A69-951C-D12E3BE503E5}" type="slidenum">
              <a:rPr lang="en-US" smtClean="0"/>
              <a:t>2</a:t>
            </a:fld>
            <a:endParaRPr lang="en-US"/>
          </a:p>
        </p:txBody>
      </p:sp>
    </p:spTree>
    <p:extLst>
      <p:ext uri="{BB962C8B-B14F-4D97-AF65-F5344CB8AC3E}">
        <p14:creationId xmlns:p14="http://schemas.microsoft.com/office/powerpoint/2010/main" val="40741762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use TransE to convert our knowledge graph into vector embeddings, which means each company and relationship is represented as a position in a numerical space. The model learns these positions so that companies with similar acquisition behavior are located close together, allowing it to identify patterns in which types of companies each firm tends to acquire.</a:t>
            </a:r>
          </a:p>
          <a:p>
            <a:endParaRPr lang="en-US" dirty="0"/>
          </a:p>
          <a:p>
            <a:r>
              <a:rPr lang="en-US" dirty="0"/>
              <a:t>During training, the model learns from triples in the dataset — like ‘Google acquires Manus AI or ‘Manus AI is a Applications company’ — and positions the vectors so that the relationship from one company points toward the company it acquired. Companies that acquire similar types of firms end up close together in this space, and relationships capture the direction and type of acquisition. For example, here is Google’s embedding, which represents its acquisition behavior in vector form.</a:t>
            </a:r>
          </a:p>
          <a:p>
            <a:endParaRPr lang="en-US" dirty="0"/>
          </a:p>
          <a:p>
            <a:r>
              <a:rPr lang="en-US" dirty="0"/>
              <a:t>Once trained, we can use these embeddings to predict potential acquisitions by seeing which companies are closest to a firm in vector space along the acquisition relationship. Essentially, the model learns the ‘map’ of acquisition behavior across the AI ecosystem and allows us to make informed predictions about what a company might acquire next.</a:t>
            </a:r>
          </a:p>
        </p:txBody>
      </p:sp>
      <p:sp>
        <p:nvSpPr>
          <p:cNvPr id="4" name="Slide Number Placeholder 3"/>
          <p:cNvSpPr>
            <a:spLocks noGrp="1"/>
          </p:cNvSpPr>
          <p:nvPr>
            <p:ph type="sldNum" sz="quarter" idx="5"/>
          </p:nvPr>
        </p:nvSpPr>
        <p:spPr/>
        <p:txBody>
          <a:bodyPr/>
          <a:lstStyle/>
          <a:p>
            <a:fld id="{DF963944-55EA-4A69-951C-D12E3BE503E5}" type="slidenum">
              <a:rPr lang="en-US" smtClean="0"/>
              <a:t>3</a:t>
            </a:fld>
            <a:endParaRPr lang="en-US"/>
          </a:p>
        </p:txBody>
      </p:sp>
    </p:spTree>
    <p:extLst>
      <p:ext uri="{BB962C8B-B14F-4D97-AF65-F5344CB8AC3E}">
        <p14:creationId xmlns:p14="http://schemas.microsoft.com/office/powerpoint/2010/main" val="20930812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 Table:</a:t>
            </a:r>
            <a:br>
              <a:rPr lang="en-US" dirty="0"/>
            </a:br>
            <a:r>
              <a:rPr lang="en-US" dirty="0"/>
              <a:t>These numbers are prediction scores from the TransE model. Each row is an acquisition that actually happened, with the ‘tail label’ showing the acquired company. The score shows how well that acquisition aligns with the patterns the model has learned from all M&amp;A data — basically, how typical it is for this firm.</a:t>
            </a:r>
          </a:p>
          <a:p>
            <a:endParaRPr lang="en-US" dirty="0"/>
          </a:p>
          <a:p>
            <a:r>
              <a:rPr lang="en-US" dirty="0"/>
              <a:t>Higher scores — closer to zero here — mean the acquisition is very consistent with the firm’s usual targets. Lower scores indicate acquisitions that are less typical or unusual.</a:t>
            </a:r>
          </a:p>
          <a:p>
            <a:endParaRPr lang="en-US" dirty="0"/>
          </a:p>
          <a:p>
            <a:r>
              <a:rPr lang="en-US" b="1" dirty="0"/>
              <a:t>LIME Output:</a:t>
            </a:r>
            <a:br>
              <a:rPr lang="en-US" dirty="0"/>
            </a:br>
            <a:r>
              <a:rPr lang="en-US" dirty="0"/>
              <a:t>LIME explains why the model gave a particular score. For each acquisition, it breaks down which features — in this case, AI categories — influenced the model. For example, this company is an Applications company, which is why APPLICATIONS is 1.0. The other numbers, like 0.17 for Modeling or 0.19 for Data, show how much each feature pushed the model toward or away from predicting this as a typical acquisition.</a:t>
            </a:r>
          </a:p>
          <a:p>
            <a:endParaRPr lang="en-US" dirty="0"/>
          </a:p>
          <a:p>
            <a:r>
              <a:rPr lang="en-US" dirty="0"/>
              <a:t>We also see the model’s classification as “Likely Acquisition” with a probability of 0.57. This doesn’t predict the future — it shows how consistent the acquisition is with the firm’s learned patterns and which features drive that consistency.</a:t>
            </a:r>
          </a:p>
          <a:p>
            <a:endParaRPr lang="en-US" b="0" dirty="0"/>
          </a:p>
        </p:txBody>
      </p:sp>
      <p:sp>
        <p:nvSpPr>
          <p:cNvPr id="4" name="Slide Number Placeholder 3"/>
          <p:cNvSpPr>
            <a:spLocks noGrp="1"/>
          </p:cNvSpPr>
          <p:nvPr>
            <p:ph type="sldNum" sz="quarter" idx="5"/>
          </p:nvPr>
        </p:nvSpPr>
        <p:spPr/>
        <p:txBody>
          <a:bodyPr/>
          <a:lstStyle/>
          <a:p>
            <a:fld id="{DF963944-55EA-4A69-951C-D12E3BE503E5}" type="slidenum">
              <a:rPr lang="en-US" smtClean="0"/>
              <a:t>4</a:t>
            </a:fld>
            <a:endParaRPr lang="en-US"/>
          </a:p>
        </p:txBody>
      </p:sp>
    </p:spTree>
    <p:extLst>
      <p:ext uri="{BB962C8B-B14F-4D97-AF65-F5344CB8AC3E}">
        <p14:creationId xmlns:p14="http://schemas.microsoft.com/office/powerpoint/2010/main" val="7943380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knowledge graph of AI acquisitions to capture relationships across companies, rather than looking at isolated deals.</a:t>
            </a:r>
          </a:p>
          <a:p>
            <a:endParaRPr lang="en-US" dirty="0"/>
          </a:p>
          <a:p>
            <a:r>
              <a:rPr lang="en-US" dirty="0"/>
              <a:t>Using TransE, we learned company embeddings that represent acquisition patterns and preferences.</a:t>
            </a:r>
          </a:p>
          <a:p>
            <a:endParaRPr lang="en-US" dirty="0"/>
          </a:p>
          <a:p>
            <a:r>
              <a:rPr lang="en-US" dirty="0"/>
              <a:t>The model can score acquisitions based on consistency with these patterns, and LIME explains which features — like AI categories — drive the prediction.</a:t>
            </a:r>
          </a:p>
          <a:p>
            <a:endParaRPr lang="en-US" dirty="0"/>
          </a:p>
          <a:p>
            <a:r>
              <a:rPr lang="en-US" dirty="0"/>
              <a:t>This approach reveals not just what acquisitions happen, but why they fit a firm’s overall strategy, providing insights into acquisition behavior in the AI ecosystem.</a:t>
            </a:r>
          </a:p>
          <a:p>
            <a:endParaRPr lang="en-US" dirty="0"/>
          </a:p>
          <a:p>
            <a:r>
              <a:rPr lang="en-US" b="1" dirty="0"/>
              <a:t>Moving Forward</a:t>
            </a:r>
          </a:p>
          <a:p>
            <a:endParaRPr lang="en-US" b="1" dirty="0"/>
          </a:p>
          <a:p>
            <a:r>
              <a:rPr lang="en-US" b="0" dirty="0"/>
              <a:t>Expand the target set – include companies that haven’t been acquired yet so you can generate true predictions.</a:t>
            </a:r>
          </a:p>
          <a:p>
            <a:endParaRPr lang="en-US" b="0" dirty="0"/>
          </a:p>
          <a:p>
            <a:r>
              <a:rPr lang="en-US" b="0" dirty="0"/>
              <a:t>Adding acquisition year as a feature:</a:t>
            </a:r>
            <a:br>
              <a:rPr lang="en-US" b="0" dirty="0"/>
            </a:br>
            <a:r>
              <a:rPr lang="en-US" b="0" dirty="0"/>
              <a:t>For each acquired company, we can include the year it was acquired as a feature in our knowledge graph. This lets us see not just what kinds of companies a firm buys, but when they buy them.</a:t>
            </a:r>
          </a:p>
          <a:p>
            <a:r>
              <a:rPr lang="en-US" b="0" dirty="0"/>
              <a:t>Analyzing embeddings over time:</a:t>
            </a:r>
            <a:br>
              <a:rPr lang="en-US" b="0" dirty="0"/>
            </a:br>
            <a:r>
              <a:rPr lang="en-US" b="0" dirty="0"/>
              <a:t>Once we have the year information, we can group acquisitions by year and look at how the patterns in embeddings change over time. For example, we might see that a firm starts acquiring more Modeling companies after 2018, showing a shift in their acquisition strategy. This gives us a way to track trends in AI acquisitions year by year.</a:t>
            </a:r>
          </a:p>
          <a:p>
            <a:endParaRPr lang="en-US" b="0" dirty="0"/>
          </a:p>
          <a:p>
            <a:r>
              <a:rPr lang="en-US" b="0" dirty="0"/>
              <a:t>Compare across GAFAM firms</a:t>
            </a:r>
            <a:br>
              <a:rPr lang="en-US" b="0" dirty="0"/>
            </a:br>
            <a:r>
              <a:rPr lang="en-US" b="0" dirty="0"/>
              <a:t>Look at patterns for each firm individually and see how their strategies differ. For example, maybe Google focuses on Modeling and Data companies, while Microsoft leans more toward Applications. This can help contextualize trends.</a:t>
            </a:r>
          </a:p>
        </p:txBody>
      </p:sp>
      <p:sp>
        <p:nvSpPr>
          <p:cNvPr id="4" name="Slide Number Placeholder 3"/>
          <p:cNvSpPr>
            <a:spLocks noGrp="1"/>
          </p:cNvSpPr>
          <p:nvPr>
            <p:ph type="sldNum" sz="quarter" idx="5"/>
          </p:nvPr>
        </p:nvSpPr>
        <p:spPr/>
        <p:txBody>
          <a:bodyPr/>
          <a:lstStyle/>
          <a:p>
            <a:fld id="{DF963944-55EA-4A69-951C-D12E3BE503E5}" type="slidenum">
              <a:rPr lang="en-US" smtClean="0"/>
              <a:t>5</a:t>
            </a:fld>
            <a:endParaRPr lang="en-US"/>
          </a:p>
        </p:txBody>
      </p:sp>
    </p:spTree>
    <p:extLst>
      <p:ext uri="{BB962C8B-B14F-4D97-AF65-F5344CB8AC3E}">
        <p14:creationId xmlns:p14="http://schemas.microsoft.com/office/powerpoint/2010/main" val="38133666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562AA-7D24-4513-61B9-44B619F8E9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ED86526-186C-A6D5-22FA-AAD3F979B3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79577C4-74D2-FA60-6940-32140005337E}"/>
              </a:ext>
            </a:extLst>
          </p:cNvPr>
          <p:cNvSpPr>
            <a:spLocks noGrp="1"/>
          </p:cNvSpPr>
          <p:nvPr>
            <p:ph type="dt" sz="half" idx="10"/>
          </p:nvPr>
        </p:nvSpPr>
        <p:spPr/>
        <p:txBody>
          <a:bodyPr/>
          <a:lstStyle/>
          <a:p>
            <a:fld id="{B177C5B1-CB3E-4A86-8203-080872BF4219}" type="datetimeFigureOut">
              <a:rPr lang="en-US" smtClean="0"/>
              <a:t>3/25/2026</a:t>
            </a:fld>
            <a:endParaRPr lang="en-US"/>
          </a:p>
        </p:txBody>
      </p:sp>
      <p:sp>
        <p:nvSpPr>
          <p:cNvPr id="5" name="Footer Placeholder 4">
            <a:extLst>
              <a:ext uri="{FF2B5EF4-FFF2-40B4-BE49-F238E27FC236}">
                <a16:creationId xmlns:a16="http://schemas.microsoft.com/office/drawing/2014/main" id="{3D6084D1-8662-17AB-B0F0-558A32BD6D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50E250-E8FA-1F74-FF14-2A06E8C29CF1}"/>
              </a:ext>
            </a:extLst>
          </p:cNvPr>
          <p:cNvSpPr>
            <a:spLocks noGrp="1"/>
          </p:cNvSpPr>
          <p:nvPr>
            <p:ph type="sldNum" sz="quarter" idx="12"/>
          </p:nvPr>
        </p:nvSpPr>
        <p:spPr/>
        <p:txBody>
          <a:bodyPr/>
          <a:lstStyle/>
          <a:p>
            <a:fld id="{297BD2F6-653E-4DC0-A1C7-1A9B1930BC45}" type="slidenum">
              <a:rPr lang="en-US" smtClean="0"/>
              <a:t>‹#›</a:t>
            </a:fld>
            <a:endParaRPr lang="en-US"/>
          </a:p>
        </p:txBody>
      </p:sp>
    </p:spTree>
    <p:extLst>
      <p:ext uri="{BB962C8B-B14F-4D97-AF65-F5344CB8AC3E}">
        <p14:creationId xmlns:p14="http://schemas.microsoft.com/office/powerpoint/2010/main" val="2667889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7EFF1-5DEB-ABA7-43ED-85F516F5D5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A61693-F6BC-5E2C-F2D0-98C20CBF5C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9366B1-5CF8-0A6A-2733-3E1EACA3D74D}"/>
              </a:ext>
            </a:extLst>
          </p:cNvPr>
          <p:cNvSpPr>
            <a:spLocks noGrp="1"/>
          </p:cNvSpPr>
          <p:nvPr>
            <p:ph type="dt" sz="half" idx="10"/>
          </p:nvPr>
        </p:nvSpPr>
        <p:spPr/>
        <p:txBody>
          <a:bodyPr/>
          <a:lstStyle/>
          <a:p>
            <a:fld id="{B177C5B1-CB3E-4A86-8203-080872BF4219}" type="datetimeFigureOut">
              <a:rPr lang="en-US" smtClean="0"/>
              <a:t>3/25/2026</a:t>
            </a:fld>
            <a:endParaRPr lang="en-US"/>
          </a:p>
        </p:txBody>
      </p:sp>
      <p:sp>
        <p:nvSpPr>
          <p:cNvPr id="5" name="Footer Placeholder 4">
            <a:extLst>
              <a:ext uri="{FF2B5EF4-FFF2-40B4-BE49-F238E27FC236}">
                <a16:creationId xmlns:a16="http://schemas.microsoft.com/office/drawing/2014/main" id="{8203B6BA-C42C-F948-7D4F-7D822F1BC5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0685AC-39DD-C6D9-EBA1-BEFE262EBC40}"/>
              </a:ext>
            </a:extLst>
          </p:cNvPr>
          <p:cNvSpPr>
            <a:spLocks noGrp="1"/>
          </p:cNvSpPr>
          <p:nvPr>
            <p:ph type="sldNum" sz="quarter" idx="12"/>
          </p:nvPr>
        </p:nvSpPr>
        <p:spPr/>
        <p:txBody>
          <a:bodyPr/>
          <a:lstStyle/>
          <a:p>
            <a:fld id="{297BD2F6-653E-4DC0-A1C7-1A9B1930BC45}" type="slidenum">
              <a:rPr lang="en-US" smtClean="0"/>
              <a:t>‹#›</a:t>
            </a:fld>
            <a:endParaRPr lang="en-US"/>
          </a:p>
        </p:txBody>
      </p:sp>
    </p:spTree>
    <p:extLst>
      <p:ext uri="{BB962C8B-B14F-4D97-AF65-F5344CB8AC3E}">
        <p14:creationId xmlns:p14="http://schemas.microsoft.com/office/powerpoint/2010/main" val="2637839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D827B-9A96-41E5-E8C4-3AAF29688D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3ED6A50-48C8-1FAE-C061-F5629E5DA35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0C5065E-A8BA-B7DF-610F-D53FFD47F7BE}"/>
              </a:ext>
            </a:extLst>
          </p:cNvPr>
          <p:cNvSpPr>
            <a:spLocks noGrp="1"/>
          </p:cNvSpPr>
          <p:nvPr>
            <p:ph type="dt" sz="half" idx="10"/>
          </p:nvPr>
        </p:nvSpPr>
        <p:spPr/>
        <p:txBody>
          <a:bodyPr/>
          <a:lstStyle/>
          <a:p>
            <a:fld id="{B177C5B1-CB3E-4A86-8203-080872BF4219}" type="datetimeFigureOut">
              <a:rPr lang="en-US" smtClean="0"/>
              <a:t>3/25/2026</a:t>
            </a:fld>
            <a:endParaRPr lang="en-US"/>
          </a:p>
        </p:txBody>
      </p:sp>
      <p:sp>
        <p:nvSpPr>
          <p:cNvPr id="5" name="Footer Placeholder 4">
            <a:extLst>
              <a:ext uri="{FF2B5EF4-FFF2-40B4-BE49-F238E27FC236}">
                <a16:creationId xmlns:a16="http://schemas.microsoft.com/office/drawing/2014/main" id="{1FA92532-D76B-6167-BDF3-7F4A1C20E4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B21656-0D32-D7BD-71B2-BE06C96895B1}"/>
              </a:ext>
            </a:extLst>
          </p:cNvPr>
          <p:cNvSpPr>
            <a:spLocks noGrp="1"/>
          </p:cNvSpPr>
          <p:nvPr>
            <p:ph type="sldNum" sz="quarter" idx="12"/>
          </p:nvPr>
        </p:nvSpPr>
        <p:spPr/>
        <p:txBody>
          <a:bodyPr/>
          <a:lstStyle/>
          <a:p>
            <a:fld id="{297BD2F6-653E-4DC0-A1C7-1A9B1930BC45}" type="slidenum">
              <a:rPr lang="en-US" smtClean="0"/>
              <a:t>‹#›</a:t>
            </a:fld>
            <a:endParaRPr lang="en-US"/>
          </a:p>
        </p:txBody>
      </p:sp>
    </p:spTree>
    <p:extLst>
      <p:ext uri="{BB962C8B-B14F-4D97-AF65-F5344CB8AC3E}">
        <p14:creationId xmlns:p14="http://schemas.microsoft.com/office/powerpoint/2010/main" val="3727459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C333A-2497-71F1-07ED-ED3567158D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ACFCAB-0DE7-E355-8551-7C1BE24F6D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48C87AC-6E2A-B2E2-93C8-DD9348ACB0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1A2E282-91D5-8534-2452-A808C16641AC}"/>
              </a:ext>
            </a:extLst>
          </p:cNvPr>
          <p:cNvSpPr>
            <a:spLocks noGrp="1"/>
          </p:cNvSpPr>
          <p:nvPr>
            <p:ph type="dt" sz="half" idx="10"/>
          </p:nvPr>
        </p:nvSpPr>
        <p:spPr/>
        <p:txBody>
          <a:bodyPr/>
          <a:lstStyle/>
          <a:p>
            <a:fld id="{B177C5B1-CB3E-4A86-8203-080872BF4219}" type="datetimeFigureOut">
              <a:rPr lang="en-US" smtClean="0"/>
              <a:t>3/25/2026</a:t>
            </a:fld>
            <a:endParaRPr lang="en-US"/>
          </a:p>
        </p:txBody>
      </p:sp>
      <p:sp>
        <p:nvSpPr>
          <p:cNvPr id="6" name="Footer Placeholder 5">
            <a:extLst>
              <a:ext uri="{FF2B5EF4-FFF2-40B4-BE49-F238E27FC236}">
                <a16:creationId xmlns:a16="http://schemas.microsoft.com/office/drawing/2014/main" id="{9494C5AD-FC66-3233-7C0B-BA21DD6F38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35A6F1-FB3C-F55D-F8B1-4084D741DBE6}"/>
              </a:ext>
            </a:extLst>
          </p:cNvPr>
          <p:cNvSpPr>
            <a:spLocks noGrp="1"/>
          </p:cNvSpPr>
          <p:nvPr>
            <p:ph type="sldNum" sz="quarter" idx="12"/>
          </p:nvPr>
        </p:nvSpPr>
        <p:spPr/>
        <p:txBody>
          <a:bodyPr/>
          <a:lstStyle/>
          <a:p>
            <a:fld id="{297BD2F6-653E-4DC0-A1C7-1A9B1930BC45}" type="slidenum">
              <a:rPr lang="en-US" smtClean="0"/>
              <a:t>‹#›</a:t>
            </a:fld>
            <a:endParaRPr lang="en-US"/>
          </a:p>
        </p:txBody>
      </p:sp>
    </p:spTree>
    <p:extLst>
      <p:ext uri="{BB962C8B-B14F-4D97-AF65-F5344CB8AC3E}">
        <p14:creationId xmlns:p14="http://schemas.microsoft.com/office/powerpoint/2010/main" val="2931059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F636-280F-4E68-9B8E-910BFB71799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6A5812F-AF63-0EDE-BFB9-15C35F538F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BC217D-AE7C-6F1B-6911-F5F4C12336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DA710EC-7F26-3826-52C2-58250D9528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5BF68B-B8AD-C422-6AAA-C0130CB3C4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DA75D43-0396-94D6-FBD9-8BA9C7A95171}"/>
              </a:ext>
            </a:extLst>
          </p:cNvPr>
          <p:cNvSpPr>
            <a:spLocks noGrp="1"/>
          </p:cNvSpPr>
          <p:nvPr>
            <p:ph type="dt" sz="half" idx="10"/>
          </p:nvPr>
        </p:nvSpPr>
        <p:spPr/>
        <p:txBody>
          <a:bodyPr/>
          <a:lstStyle/>
          <a:p>
            <a:fld id="{B177C5B1-CB3E-4A86-8203-080872BF4219}" type="datetimeFigureOut">
              <a:rPr lang="en-US" smtClean="0"/>
              <a:t>3/25/2026</a:t>
            </a:fld>
            <a:endParaRPr lang="en-US"/>
          </a:p>
        </p:txBody>
      </p:sp>
      <p:sp>
        <p:nvSpPr>
          <p:cNvPr id="8" name="Footer Placeholder 7">
            <a:extLst>
              <a:ext uri="{FF2B5EF4-FFF2-40B4-BE49-F238E27FC236}">
                <a16:creationId xmlns:a16="http://schemas.microsoft.com/office/drawing/2014/main" id="{AF05FC58-C891-1803-0B3D-4A5F897A52C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5AEED7-1794-D313-57A2-EB5EA3E6F24A}"/>
              </a:ext>
            </a:extLst>
          </p:cNvPr>
          <p:cNvSpPr>
            <a:spLocks noGrp="1"/>
          </p:cNvSpPr>
          <p:nvPr>
            <p:ph type="sldNum" sz="quarter" idx="12"/>
          </p:nvPr>
        </p:nvSpPr>
        <p:spPr/>
        <p:txBody>
          <a:bodyPr/>
          <a:lstStyle/>
          <a:p>
            <a:fld id="{297BD2F6-653E-4DC0-A1C7-1A9B1930BC45}" type="slidenum">
              <a:rPr lang="en-US" smtClean="0"/>
              <a:t>‹#›</a:t>
            </a:fld>
            <a:endParaRPr lang="en-US"/>
          </a:p>
        </p:txBody>
      </p:sp>
    </p:spTree>
    <p:extLst>
      <p:ext uri="{BB962C8B-B14F-4D97-AF65-F5344CB8AC3E}">
        <p14:creationId xmlns:p14="http://schemas.microsoft.com/office/powerpoint/2010/main" val="35712218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0B212-597B-9835-4B98-86FB8E5AE28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93D8E95-1F4B-97FF-AD39-1EFAE0413A69}"/>
              </a:ext>
            </a:extLst>
          </p:cNvPr>
          <p:cNvSpPr>
            <a:spLocks noGrp="1"/>
          </p:cNvSpPr>
          <p:nvPr>
            <p:ph type="dt" sz="half" idx="10"/>
          </p:nvPr>
        </p:nvSpPr>
        <p:spPr/>
        <p:txBody>
          <a:bodyPr/>
          <a:lstStyle/>
          <a:p>
            <a:fld id="{B177C5B1-CB3E-4A86-8203-080872BF4219}" type="datetimeFigureOut">
              <a:rPr lang="en-US" smtClean="0"/>
              <a:t>3/25/2026</a:t>
            </a:fld>
            <a:endParaRPr lang="en-US"/>
          </a:p>
        </p:txBody>
      </p:sp>
      <p:sp>
        <p:nvSpPr>
          <p:cNvPr id="4" name="Footer Placeholder 3">
            <a:extLst>
              <a:ext uri="{FF2B5EF4-FFF2-40B4-BE49-F238E27FC236}">
                <a16:creationId xmlns:a16="http://schemas.microsoft.com/office/drawing/2014/main" id="{BDFE8298-41DD-52EA-0B07-C5B1C006BFA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D4CAEEA-2C82-32B3-7498-07CD14F43F52}"/>
              </a:ext>
            </a:extLst>
          </p:cNvPr>
          <p:cNvSpPr>
            <a:spLocks noGrp="1"/>
          </p:cNvSpPr>
          <p:nvPr>
            <p:ph type="sldNum" sz="quarter" idx="12"/>
          </p:nvPr>
        </p:nvSpPr>
        <p:spPr/>
        <p:txBody>
          <a:bodyPr/>
          <a:lstStyle/>
          <a:p>
            <a:fld id="{297BD2F6-653E-4DC0-A1C7-1A9B1930BC45}" type="slidenum">
              <a:rPr lang="en-US" smtClean="0"/>
              <a:t>‹#›</a:t>
            </a:fld>
            <a:endParaRPr lang="en-US"/>
          </a:p>
        </p:txBody>
      </p:sp>
    </p:spTree>
    <p:extLst>
      <p:ext uri="{BB962C8B-B14F-4D97-AF65-F5344CB8AC3E}">
        <p14:creationId xmlns:p14="http://schemas.microsoft.com/office/powerpoint/2010/main" val="1593005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5FF072-2994-4E99-1CD4-4D794B06D4FC}"/>
              </a:ext>
            </a:extLst>
          </p:cNvPr>
          <p:cNvSpPr>
            <a:spLocks noGrp="1"/>
          </p:cNvSpPr>
          <p:nvPr>
            <p:ph type="dt" sz="half" idx="10"/>
          </p:nvPr>
        </p:nvSpPr>
        <p:spPr/>
        <p:txBody>
          <a:bodyPr/>
          <a:lstStyle/>
          <a:p>
            <a:fld id="{B177C5B1-CB3E-4A86-8203-080872BF4219}" type="datetimeFigureOut">
              <a:rPr lang="en-US" smtClean="0"/>
              <a:t>3/25/2026</a:t>
            </a:fld>
            <a:endParaRPr lang="en-US"/>
          </a:p>
        </p:txBody>
      </p:sp>
      <p:sp>
        <p:nvSpPr>
          <p:cNvPr id="3" name="Footer Placeholder 2">
            <a:extLst>
              <a:ext uri="{FF2B5EF4-FFF2-40B4-BE49-F238E27FC236}">
                <a16:creationId xmlns:a16="http://schemas.microsoft.com/office/drawing/2014/main" id="{808C9109-ABA9-8045-3BF5-35805BC80C5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79B752A-C234-C751-AAA6-6E2037065634}"/>
              </a:ext>
            </a:extLst>
          </p:cNvPr>
          <p:cNvSpPr>
            <a:spLocks noGrp="1"/>
          </p:cNvSpPr>
          <p:nvPr>
            <p:ph type="sldNum" sz="quarter" idx="12"/>
          </p:nvPr>
        </p:nvSpPr>
        <p:spPr/>
        <p:txBody>
          <a:bodyPr/>
          <a:lstStyle/>
          <a:p>
            <a:fld id="{297BD2F6-653E-4DC0-A1C7-1A9B1930BC45}" type="slidenum">
              <a:rPr lang="en-US" smtClean="0"/>
              <a:t>‹#›</a:t>
            </a:fld>
            <a:endParaRPr lang="en-US"/>
          </a:p>
        </p:txBody>
      </p:sp>
    </p:spTree>
    <p:extLst>
      <p:ext uri="{BB962C8B-B14F-4D97-AF65-F5344CB8AC3E}">
        <p14:creationId xmlns:p14="http://schemas.microsoft.com/office/powerpoint/2010/main" val="2662173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E6F18-DCA4-0D53-14D2-0A7813B408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9F23005-B435-BFBE-F474-BC19BB1E9A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49A316-CF7A-5190-7DFD-CEE698EF23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10B6F0-1126-8FC7-C584-9F46094B3AED}"/>
              </a:ext>
            </a:extLst>
          </p:cNvPr>
          <p:cNvSpPr>
            <a:spLocks noGrp="1"/>
          </p:cNvSpPr>
          <p:nvPr>
            <p:ph type="dt" sz="half" idx="10"/>
          </p:nvPr>
        </p:nvSpPr>
        <p:spPr/>
        <p:txBody>
          <a:bodyPr/>
          <a:lstStyle/>
          <a:p>
            <a:fld id="{B177C5B1-CB3E-4A86-8203-080872BF4219}" type="datetimeFigureOut">
              <a:rPr lang="en-US" smtClean="0"/>
              <a:t>3/25/2026</a:t>
            </a:fld>
            <a:endParaRPr lang="en-US"/>
          </a:p>
        </p:txBody>
      </p:sp>
      <p:sp>
        <p:nvSpPr>
          <p:cNvPr id="6" name="Footer Placeholder 5">
            <a:extLst>
              <a:ext uri="{FF2B5EF4-FFF2-40B4-BE49-F238E27FC236}">
                <a16:creationId xmlns:a16="http://schemas.microsoft.com/office/drawing/2014/main" id="{014D8224-F47B-1C20-1956-17ECDDDDF7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20DC51-E982-9738-C82D-DB8F06DFA6CD}"/>
              </a:ext>
            </a:extLst>
          </p:cNvPr>
          <p:cNvSpPr>
            <a:spLocks noGrp="1"/>
          </p:cNvSpPr>
          <p:nvPr>
            <p:ph type="sldNum" sz="quarter" idx="12"/>
          </p:nvPr>
        </p:nvSpPr>
        <p:spPr/>
        <p:txBody>
          <a:bodyPr/>
          <a:lstStyle/>
          <a:p>
            <a:fld id="{297BD2F6-653E-4DC0-A1C7-1A9B1930BC45}" type="slidenum">
              <a:rPr lang="en-US" smtClean="0"/>
              <a:t>‹#›</a:t>
            </a:fld>
            <a:endParaRPr lang="en-US"/>
          </a:p>
        </p:txBody>
      </p:sp>
    </p:spTree>
    <p:extLst>
      <p:ext uri="{BB962C8B-B14F-4D97-AF65-F5344CB8AC3E}">
        <p14:creationId xmlns:p14="http://schemas.microsoft.com/office/powerpoint/2010/main" val="3641742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C50A0-A445-D546-56CC-9FEECDF142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4DD75BC-A22A-03C9-D7BD-4497E4D3F0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44D9C8F-B172-7303-AEEF-9B3367904D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3FCC6A-2C80-F96A-0E30-D96BAB393695}"/>
              </a:ext>
            </a:extLst>
          </p:cNvPr>
          <p:cNvSpPr>
            <a:spLocks noGrp="1"/>
          </p:cNvSpPr>
          <p:nvPr>
            <p:ph type="dt" sz="half" idx="10"/>
          </p:nvPr>
        </p:nvSpPr>
        <p:spPr/>
        <p:txBody>
          <a:bodyPr/>
          <a:lstStyle/>
          <a:p>
            <a:fld id="{B177C5B1-CB3E-4A86-8203-080872BF4219}" type="datetimeFigureOut">
              <a:rPr lang="en-US" smtClean="0"/>
              <a:t>3/25/2026</a:t>
            </a:fld>
            <a:endParaRPr lang="en-US"/>
          </a:p>
        </p:txBody>
      </p:sp>
      <p:sp>
        <p:nvSpPr>
          <p:cNvPr id="6" name="Footer Placeholder 5">
            <a:extLst>
              <a:ext uri="{FF2B5EF4-FFF2-40B4-BE49-F238E27FC236}">
                <a16:creationId xmlns:a16="http://schemas.microsoft.com/office/drawing/2014/main" id="{97DDD464-A20D-6DDD-503F-92A0906C7E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A81EE9-5E0B-36F5-17AD-6C1C2F4CC8D2}"/>
              </a:ext>
            </a:extLst>
          </p:cNvPr>
          <p:cNvSpPr>
            <a:spLocks noGrp="1"/>
          </p:cNvSpPr>
          <p:nvPr>
            <p:ph type="sldNum" sz="quarter" idx="12"/>
          </p:nvPr>
        </p:nvSpPr>
        <p:spPr/>
        <p:txBody>
          <a:bodyPr/>
          <a:lstStyle/>
          <a:p>
            <a:fld id="{297BD2F6-653E-4DC0-A1C7-1A9B1930BC45}" type="slidenum">
              <a:rPr lang="en-US" smtClean="0"/>
              <a:t>‹#›</a:t>
            </a:fld>
            <a:endParaRPr lang="en-US"/>
          </a:p>
        </p:txBody>
      </p:sp>
    </p:spTree>
    <p:extLst>
      <p:ext uri="{BB962C8B-B14F-4D97-AF65-F5344CB8AC3E}">
        <p14:creationId xmlns:p14="http://schemas.microsoft.com/office/powerpoint/2010/main" val="2625593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DED79-215D-EC29-4979-2F281246D86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39F0E4A-9B93-F6AB-FDB2-D7AEA71139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06E1F-A901-DAC7-9D5E-76C4CBA11F5C}"/>
              </a:ext>
            </a:extLst>
          </p:cNvPr>
          <p:cNvSpPr>
            <a:spLocks noGrp="1"/>
          </p:cNvSpPr>
          <p:nvPr>
            <p:ph type="dt" sz="half" idx="10"/>
          </p:nvPr>
        </p:nvSpPr>
        <p:spPr/>
        <p:txBody>
          <a:bodyPr/>
          <a:lstStyle/>
          <a:p>
            <a:fld id="{B177C5B1-CB3E-4A86-8203-080872BF4219}" type="datetimeFigureOut">
              <a:rPr lang="en-US" smtClean="0"/>
              <a:t>3/25/2026</a:t>
            </a:fld>
            <a:endParaRPr lang="en-US"/>
          </a:p>
        </p:txBody>
      </p:sp>
      <p:sp>
        <p:nvSpPr>
          <p:cNvPr id="5" name="Footer Placeholder 4">
            <a:extLst>
              <a:ext uri="{FF2B5EF4-FFF2-40B4-BE49-F238E27FC236}">
                <a16:creationId xmlns:a16="http://schemas.microsoft.com/office/drawing/2014/main" id="{F52C005A-62FA-61EE-E911-FA1A3FF5F1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44DD77-FFB1-AE39-5359-02D44D25250B}"/>
              </a:ext>
            </a:extLst>
          </p:cNvPr>
          <p:cNvSpPr>
            <a:spLocks noGrp="1"/>
          </p:cNvSpPr>
          <p:nvPr>
            <p:ph type="sldNum" sz="quarter" idx="12"/>
          </p:nvPr>
        </p:nvSpPr>
        <p:spPr/>
        <p:txBody>
          <a:bodyPr/>
          <a:lstStyle/>
          <a:p>
            <a:fld id="{297BD2F6-653E-4DC0-A1C7-1A9B1930BC45}" type="slidenum">
              <a:rPr lang="en-US" smtClean="0"/>
              <a:t>‹#›</a:t>
            </a:fld>
            <a:endParaRPr lang="en-US"/>
          </a:p>
        </p:txBody>
      </p:sp>
    </p:spTree>
    <p:extLst>
      <p:ext uri="{BB962C8B-B14F-4D97-AF65-F5344CB8AC3E}">
        <p14:creationId xmlns:p14="http://schemas.microsoft.com/office/powerpoint/2010/main" val="1437862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EE6FAB-75EE-600D-CA7F-2859B8B2783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A9865A7-BDC7-2397-9D9E-BBB184E8E6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922D10-EC48-D735-008E-F307282D7261}"/>
              </a:ext>
            </a:extLst>
          </p:cNvPr>
          <p:cNvSpPr>
            <a:spLocks noGrp="1"/>
          </p:cNvSpPr>
          <p:nvPr>
            <p:ph type="dt" sz="half" idx="10"/>
          </p:nvPr>
        </p:nvSpPr>
        <p:spPr/>
        <p:txBody>
          <a:bodyPr/>
          <a:lstStyle/>
          <a:p>
            <a:fld id="{B177C5B1-CB3E-4A86-8203-080872BF4219}" type="datetimeFigureOut">
              <a:rPr lang="en-US" smtClean="0"/>
              <a:t>3/25/2026</a:t>
            </a:fld>
            <a:endParaRPr lang="en-US"/>
          </a:p>
        </p:txBody>
      </p:sp>
      <p:sp>
        <p:nvSpPr>
          <p:cNvPr id="5" name="Footer Placeholder 4">
            <a:extLst>
              <a:ext uri="{FF2B5EF4-FFF2-40B4-BE49-F238E27FC236}">
                <a16:creationId xmlns:a16="http://schemas.microsoft.com/office/drawing/2014/main" id="{4F51D0BC-956B-EFDA-F491-3E0120AD13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296948-1E7A-981E-FD41-4BA267F97847}"/>
              </a:ext>
            </a:extLst>
          </p:cNvPr>
          <p:cNvSpPr>
            <a:spLocks noGrp="1"/>
          </p:cNvSpPr>
          <p:nvPr>
            <p:ph type="sldNum" sz="quarter" idx="12"/>
          </p:nvPr>
        </p:nvSpPr>
        <p:spPr/>
        <p:txBody>
          <a:bodyPr/>
          <a:lstStyle/>
          <a:p>
            <a:fld id="{297BD2F6-653E-4DC0-A1C7-1A9B1930BC45}" type="slidenum">
              <a:rPr lang="en-US" smtClean="0"/>
              <a:t>‹#›</a:t>
            </a:fld>
            <a:endParaRPr lang="en-US"/>
          </a:p>
        </p:txBody>
      </p:sp>
    </p:spTree>
    <p:extLst>
      <p:ext uri="{BB962C8B-B14F-4D97-AF65-F5344CB8AC3E}">
        <p14:creationId xmlns:p14="http://schemas.microsoft.com/office/powerpoint/2010/main" val="3032310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015F05-4E31-3302-667B-80DCB83FC1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B8ECEB7-C6CD-4C87-76DB-FE81AF6612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0DF28D-62E1-271C-D7E8-85C0C43A23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177C5B1-CB3E-4A86-8203-080872BF4219}" type="datetimeFigureOut">
              <a:rPr lang="en-US" smtClean="0"/>
              <a:t>3/25/2026</a:t>
            </a:fld>
            <a:endParaRPr lang="en-US"/>
          </a:p>
        </p:txBody>
      </p:sp>
      <p:sp>
        <p:nvSpPr>
          <p:cNvPr id="5" name="Footer Placeholder 4">
            <a:extLst>
              <a:ext uri="{FF2B5EF4-FFF2-40B4-BE49-F238E27FC236}">
                <a16:creationId xmlns:a16="http://schemas.microsoft.com/office/drawing/2014/main" id="{8CC1A354-6E69-F3EF-5E0B-F56FB6EC1A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24C580A-30D5-7BED-EF44-2AE30987B0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97BD2F6-653E-4DC0-A1C7-1A9B1930BC45}" type="slidenum">
              <a:rPr lang="en-US" smtClean="0"/>
              <a:t>‹#›</a:t>
            </a:fld>
            <a:endParaRPr lang="en-US"/>
          </a:p>
        </p:txBody>
      </p:sp>
    </p:spTree>
    <p:extLst>
      <p:ext uri="{BB962C8B-B14F-4D97-AF65-F5344CB8AC3E}">
        <p14:creationId xmlns:p14="http://schemas.microsoft.com/office/powerpoint/2010/main" val="19097585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0A2B7F3-65A0-4CC5-8310-3252C59E02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86EA8C-13CC-66C1-5AAA-11E3F2584AEA}"/>
              </a:ext>
            </a:extLst>
          </p:cNvPr>
          <p:cNvSpPr>
            <a:spLocks noGrp="1"/>
          </p:cNvSpPr>
          <p:nvPr>
            <p:ph type="ctrTitle"/>
          </p:nvPr>
        </p:nvSpPr>
        <p:spPr>
          <a:xfrm>
            <a:off x="838200" y="3950725"/>
            <a:ext cx="10515600" cy="1132696"/>
          </a:xfrm>
        </p:spPr>
        <p:txBody>
          <a:bodyPr>
            <a:normAutofit/>
          </a:bodyPr>
          <a:lstStyle/>
          <a:p>
            <a:r>
              <a:rPr lang="en-US" sz="3700"/>
              <a:t>Partial Demo: Modeling and Predicting GAFAM M&amp;A Strategy </a:t>
            </a:r>
          </a:p>
        </p:txBody>
      </p:sp>
      <p:sp>
        <p:nvSpPr>
          <p:cNvPr id="3" name="Subtitle 2">
            <a:extLst>
              <a:ext uri="{FF2B5EF4-FFF2-40B4-BE49-F238E27FC236}">
                <a16:creationId xmlns:a16="http://schemas.microsoft.com/office/drawing/2014/main" id="{5FEE5CF7-CAB7-DC9C-1555-C5B35A7619D0}"/>
              </a:ext>
            </a:extLst>
          </p:cNvPr>
          <p:cNvSpPr>
            <a:spLocks noGrp="1"/>
          </p:cNvSpPr>
          <p:nvPr>
            <p:ph type="subTitle" idx="1"/>
          </p:nvPr>
        </p:nvSpPr>
        <p:spPr>
          <a:xfrm>
            <a:off x="838200" y="5145583"/>
            <a:ext cx="10515600" cy="1132696"/>
          </a:xfrm>
        </p:spPr>
        <p:txBody>
          <a:bodyPr>
            <a:normAutofit/>
          </a:bodyPr>
          <a:lstStyle/>
          <a:p>
            <a:r>
              <a:rPr lang="en-US" dirty="0"/>
              <a:t>By: Alex Dillon</a:t>
            </a:r>
          </a:p>
        </p:txBody>
      </p:sp>
      <p:pic>
        <p:nvPicPr>
          <p:cNvPr id="5" name="Picture 4">
            <a:extLst>
              <a:ext uri="{FF2B5EF4-FFF2-40B4-BE49-F238E27FC236}">
                <a16:creationId xmlns:a16="http://schemas.microsoft.com/office/drawing/2014/main" id="{0F3C853D-158F-84A8-5535-7C608B29A3F3}"/>
              </a:ext>
            </a:extLst>
          </p:cNvPr>
          <p:cNvPicPr>
            <a:picLocks noChangeAspect="1"/>
          </p:cNvPicPr>
          <p:nvPr/>
        </p:nvPicPr>
        <p:blipFill>
          <a:blip r:embed="rId2"/>
          <a:srcRect t="17835" r="-2" b="12652"/>
          <a:stretch>
            <a:fillRect/>
          </a:stretch>
        </p:blipFill>
        <p:spPr>
          <a:xfrm>
            <a:off x="1420261" y="304800"/>
            <a:ext cx="9392179" cy="3672406"/>
          </a:xfrm>
          <a:custGeom>
            <a:avLst/>
            <a:gdLst/>
            <a:ahLst/>
            <a:cxnLst/>
            <a:rect l="l" t="t" r="r" b="b"/>
            <a:pathLst>
              <a:path w="9392179" h="3672406">
                <a:moveTo>
                  <a:pt x="8328426" y="0"/>
                </a:moveTo>
                <a:cubicBezTo>
                  <a:pt x="8306669" y="212063"/>
                  <a:pt x="8209966" y="234386"/>
                  <a:pt x="8156780" y="365530"/>
                </a:cubicBezTo>
                <a:cubicBezTo>
                  <a:pt x="8193044" y="376692"/>
                  <a:pt x="8224472" y="390643"/>
                  <a:pt x="8255900" y="396224"/>
                </a:cubicBezTo>
                <a:cubicBezTo>
                  <a:pt x="8379195" y="424127"/>
                  <a:pt x="8497654" y="496675"/>
                  <a:pt x="8608861" y="619448"/>
                </a:cubicBezTo>
                <a:cubicBezTo>
                  <a:pt x="8693475" y="711528"/>
                  <a:pt x="8785341" y="750593"/>
                  <a:pt x="8877208" y="756173"/>
                </a:cubicBezTo>
                <a:cubicBezTo>
                  <a:pt x="8923141" y="758964"/>
                  <a:pt x="8971492" y="761754"/>
                  <a:pt x="9012590" y="795238"/>
                </a:cubicBezTo>
                <a:cubicBezTo>
                  <a:pt x="9053688" y="828721"/>
                  <a:pt x="9133466" y="814770"/>
                  <a:pt x="9106875" y="996140"/>
                </a:cubicBezTo>
                <a:cubicBezTo>
                  <a:pt x="9210828" y="1068688"/>
                  <a:pt x="9167313" y="1283542"/>
                  <a:pt x="9215663" y="1417476"/>
                </a:cubicBezTo>
                <a:cubicBezTo>
                  <a:pt x="9268849" y="1565363"/>
                  <a:pt x="9300277" y="1746734"/>
                  <a:pt x="9370386" y="1872297"/>
                </a:cubicBezTo>
                <a:cubicBezTo>
                  <a:pt x="9396979" y="1916942"/>
                  <a:pt x="9396979" y="1967168"/>
                  <a:pt x="9382473" y="2014603"/>
                </a:cubicBezTo>
                <a:cubicBezTo>
                  <a:pt x="9355881" y="2115054"/>
                  <a:pt x="9322035" y="2201554"/>
                  <a:pt x="9276102" y="2268521"/>
                </a:cubicBezTo>
                <a:cubicBezTo>
                  <a:pt x="9106875" y="2514068"/>
                  <a:pt x="8932811" y="2756825"/>
                  <a:pt x="8746660" y="2949356"/>
                </a:cubicBezTo>
                <a:cubicBezTo>
                  <a:pt x="8536335" y="3169790"/>
                  <a:pt x="8304251" y="3289774"/>
                  <a:pt x="8069749" y="3384644"/>
                </a:cubicBezTo>
                <a:cubicBezTo>
                  <a:pt x="7624922" y="3566014"/>
                  <a:pt x="7172842" y="3632982"/>
                  <a:pt x="6713509" y="3649724"/>
                </a:cubicBezTo>
                <a:cubicBezTo>
                  <a:pt x="6406482" y="3660885"/>
                  <a:pt x="6101872" y="3674836"/>
                  <a:pt x="5794844" y="3672046"/>
                </a:cubicBezTo>
                <a:cubicBezTo>
                  <a:pt x="5526498" y="3669256"/>
                  <a:pt x="5258151" y="3638562"/>
                  <a:pt x="4987387" y="3599498"/>
                </a:cubicBezTo>
                <a:cubicBezTo>
                  <a:pt x="4636843" y="3546482"/>
                  <a:pt x="3362799" y="3312096"/>
                  <a:pt x="2920390" y="3220016"/>
                </a:cubicBezTo>
                <a:cubicBezTo>
                  <a:pt x="2702811" y="3175371"/>
                  <a:pt x="1498875" y="2762406"/>
                  <a:pt x="1472282" y="2695438"/>
                </a:cubicBezTo>
                <a:cubicBezTo>
                  <a:pt x="1554478" y="2650793"/>
                  <a:pt x="1634257" y="2728922"/>
                  <a:pt x="1721289" y="2681487"/>
                </a:cubicBezTo>
                <a:cubicBezTo>
                  <a:pt x="1571401" y="2578245"/>
                  <a:pt x="1399756" y="2625681"/>
                  <a:pt x="1257121" y="2555923"/>
                </a:cubicBezTo>
                <a:cubicBezTo>
                  <a:pt x="1259538" y="2488955"/>
                  <a:pt x="1322394" y="2508488"/>
                  <a:pt x="1332064" y="2463843"/>
                </a:cubicBezTo>
                <a:cubicBezTo>
                  <a:pt x="1061300" y="2335488"/>
                  <a:pt x="759108" y="2341069"/>
                  <a:pt x="483508" y="2229457"/>
                </a:cubicBezTo>
                <a:cubicBezTo>
                  <a:pt x="734932" y="2184812"/>
                  <a:pt x="981521" y="2232247"/>
                  <a:pt x="1235363" y="2240618"/>
                </a:cubicBezTo>
                <a:cubicBezTo>
                  <a:pt x="1211188" y="2182021"/>
                  <a:pt x="1167672" y="2187602"/>
                  <a:pt x="1138662" y="2168069"/>
                </a:cubicBezTo>
                <a:cubicBezTo>
                  <a:pt x="1099981" y="2142957"/>
                  <a:pt x="1068553" y="2120635"/>
                  <a:pt x="1092728" y="2056458"/>
                </a:cubicBezTo>
                <a:cubicBezTo>
                  <a:pt x="1116903" y="1995071"/>
                  <a:pt x="1085475" y="1978329"/>
                  <a:pt x="1039542" y="1956007"/>
                </a:cubicBezTo>
                <a:cubicBezTo>
                  <a:pt x="923501" y="1894620"/>
                  <a:pt x="795371" y="1914152"/>
                  <a:pt x="674494" y="1894620"/>
                </a:cubicBezTo>
                <a:cubicBezTo>
                  <a:pt x="618891" y="1886249"/>
                  <a:pt x="529441" y="1900200"/>
                  <a:pt x="514936" y="1852765"/>
                </a:cubicBezTo>
                <a:cubicBezTo>
                  <a:pt x="464168" y="1699298"/>
                  <a:pt x="362631" y="1743943"/>
                  <a:pt x="268347" y="1735572"/>
                </a:cubicBezTo>
                <a:cubicBezTo>
                  <a:pt x="171646" y="1727201"/>
                  <a:pt x="152305" y="1657444"/>
                  <a:pt x="200656" y="1529089"/>
                </a:cubicBezTo>
                <a:cubicBezTo>
                  <a:pt x="149887" y="1467702"/>
                  <a:pt x="65273" y="1537459"/>
                  <a:pt x="0" y="1453750"/>
                </a:cubicBezTo>
                <a:cubicBezTo>
                  <a:pt x="502848" y="1411896"/>
                  <a:pt x="993609" y="1450960"/>
                  <a:pt x="1479534" y="1330977"/>
                </a:cubicBezTo>
                <a:cubicBezTo>
                  <a:pt x="1324812" y="1336557"/>
                  <a:pt x="1172507" y="1286332"/>
                  <a:pt x="1017784" y="1317025"/>
                </a:cubicBezTo>
                <a:cubicBezTo>
                  <a:pt x="993609" y="1322606"/>
                  <a:pt x="964599" y="1317025"/>
                  <a:pt x="940423" y="1311445"/>
                </a:cubicBezTo>
                <a:cubicBezTo>
                  <a:pt x="913830" y="1305864"/>
                  <a:pt x="889655" y="1294703"/>
                  <a:pt x="889655" y="1255638"/>
                </a:cubicBezTo>
                <a:cubicBezTo>
                  <a:pt x="889655" y="1227735"/>
                  <a:pt x="908995" y="1213784"/>
                  <a:pt x="928335" y="1202623"/>
                </a:cubicBezTo>
                <a:cubicBezTo>
                  <a:pt x="981521" y="1171929"/>
                  <a:pt x="1039542" y="1163558"/>
                  <a:pt x="1092728" y="1194252"/>
                </a:cubicBezTo>
                <a:cubicBezTo>
                  <a:pt x="1153167" y="1227735"/>
                  <a:pt x="1201518" y="1219364"/>
                  <a:pt x="1247451" y="1160768"/>
                </a:cubicBezTo>
                <a:cubicBezTo>
                  <a:pt x="1307889" y="1085430"/>
                  <a:pt x="1394920" y="1113333"/>
                  <a:pt x="1467447" y="1088220"/>
                </a:cubicBezTo>
                <a:cubicBezTo>
                  <a:pt x="1547226" y="1063107"/>
                  <a:pt x="1631840" y="1077059"/>
                  <a:pt x="1735794" y="1032414"/>
                </a:cubicBezTo>
                <a:cubicBezTo>
                  <a:pt x="1559313" y="982188"/>
                  <a:pt x="1397338" y="1057527"/>
                  <a:pt x="1218440" y="1007301"/>
                </a:cubicBezTo>
                <a:cubicBezTo>
                  <a:pt x="1290966" y="937543"/>
                  <a:pt x="1356240" y="957076"/>
                  <a:pt x="1416678" y="945914"/>
                </a:cubicBezTo>
                <a:cubicBezTo>
                  <a:pt x="1489204" y="931963"/>
                  <a:pt x="1561731" y="929172"/>
                  <a:pt x="1634257" y="915221"/>
                </a:cubicBezTo>
                <a:cubicBezTo>
                  <a:pt x="1701949" y="904060"/>
                  <a:pt x="1767223" y="884528"/>
                  <a:pt x="1834914" y="873366"/>
                </a:cubicBezTo>
                <a:cubicBezTo>
                  <a:pt x="1900187" y="862205"/>
                  <a:pt x="1967878" y="876157"/>
                  <a:pt x="2028317" y="814770"/>
                </a:cubicBezTo>
                <a:cubicBezTo>
                  <a:pt x="1863924" y="691996"/>
                  <a:pt x="1677773" y="750593"/>
                  <a:pt x="1484370" y="719899"/>
                </a:cubicBezTo>
                <a:cubicBezTo>
                  <a:pt x="1535138" y="661303"/>
                  <a:pt x="1588324" y="672464"/>
                  <a:pt x="1631840" y="655722"/>
                </a:cubicBezTo>
                <a:cubicBezTo>
                  <a:pt x="1651180" y="650142"/>
                  <a:pt x="1675355" y="650142"/>
                  <a:pt x="1682608" y="622239"/>
                </a:cubicBezTo>
                <a:cubicBezTo>
                  <a:pt x="1692278" y="585965"/>
                  <a:pt x="1670520" y="563642"/>
                  <a:pt x="1646344" y="552481"/>
                </a:cubicBezTo>
                <a:cubicBezTo>
                  <a:pt x="1537556" y="499465"/>
                  <a:pt x="1421514" y="471562"/>
                  <a:pt x="1305472" y="443659"/>
                </a:cubicBezTo>
                <a:cubicBezTo>
                  <a:pt x="1240198" y="429707"/>
                  <a:pt x="1170090" y="438078"/>
                  <a:pt x="1112068" y="393433"/>
                </a:cubicBezTo>
                <a:cubicBezTo>
                  <a:pt x="1324812" y="200902"/>
                  <a:pt x="1561731" y="237176"/>
                  <a:pt x="1801068" y="248337"/>
                </a:cubicBezTo>
                <a:cubicBezTo>
                  <a:pt x="2190293" y="265079"/>
                  <a:pt x="2579516" y="281821"/>
                  <a:pt x="2971158" y="253918"/>
                </a:cubicBezTo>
                <a:cubicBezTo>
                  <a:pt x="3287854" y="200902"/>
                  <a:pt x="3609388" y="195322"/>
                  <a:pt x="3930923" y="175789"/>
                </a:cubicBezTo>
                <a:cubicBezTo>
                  <a:pt x="4283882" y="150677"/>
                  <a:pt x="4641678" y="170209"/>
                  <a:pt x="4997057" y="172999"/>
                </a:cubicBezTo>
                <a:cubicBezTo>
                  <a:pt x="5253316" y="175789"/>
                  <a:pt x="5511992" y="200902"/>
                  <a:pt x="5768252" y="178580"/>
                </a:cubicBezTo>
                <a:cubicBezTo>
                  <a:pt x="6068027" y="153467"/>
                  <a:pt x="6372637" y="172999"/>
                  <a:pt x="6674829" y="164628"/>
                </a:cubicBezTo>
                <a:cubicBezTo>
                  <a:pt x="6810212" y="161838"/>
                  <a:pt x="6945593" y="139515"/>
                  <a:pt x="7080976" y="122774"/>
                </a:cubicBezTo>
                <a:cubicBezTo>
                  <a:pt x="7334817" y="89290"/>
                  <a:pt x="7591076" y="44645"/>
                  <a:pt x="7847336" y="58596"/>
                </a:cubicBezTo>
                <a:cubicBezTo>
                  <a:pt x="8006894" y="66967"/>
                  <a:pt x="8164034" y="66967"/>
                  <a:pt x="8328426" y="0"/>
                </a:cubicBezTo>
                <a:close/>
              </a:path>
            </a:pathLst>
          </a:custGeom>
        </p:spPr>
      </p:pic>
    </p:spTree>
    <p:extLst>
      <p:ext uri="{BB962C8B-B14F-4D97-AF65-F5344CB8AC3E}">
        <p14:creationId xmlns:p14="http://schemas.microsoft.com/office/powerpoint/2010/main" val="12496995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2" name="Rectangle 11">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500"/>
            <a:ext cx="12191998" cy="6858000"/>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C87AC-C919-4FE5-BAC3-39509E001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35" y="-1500"/>
            <a:ext cx="8119933" cy="6858001"/>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D0659F6-0853-468D-B1B2-44FDBE98B8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272" y="-3000"/>
            <a:ext cx="12201265" cy="6859501"/>
          </a:xfrm>
          <a:prstGeom prst="rect">
            <a:avLst/>
          </a:prstGeom>
          <a:gradFill>
            <a:gsLst>
              <a:gs pos="0">
                <a:srgbClr val="000000">
                  <a:alpha val="71765"/>
                </a:srgbClr>
              </a:gs>
              <a:gs pos="100000">
                <a:schemeClr val="accent1">
                  <a:alpha val="24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78536" y="0"/>
            <a:ext cx="11718098" cy="6858000"/>
          </a:xfrm>
          <a:prstGeom prst="rect">
            <a:avLst/>
          </a:prstGeom>
          <a:gradFill>
            <a:gsLst>
              <a:gs pos="19000">
                <a:srgbClr val="000000">
                  <a:alpha val="62000"/>
                </a:srgbClr>
              </a:gs>
              <a:gs pos="100000">
                <a:schemeClr val="accent1">
                  <a:lumMod val="75000"/>
                  <a:alpha val="44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5C8194-A462-EB5E-6E4B-9E892186C03C}"/>
              </a:ext>
            </a:extLst>
          </p:cNvPr>
          <p:cNvSpPr>
            <a:spLocks noGrp="1"/>
          </p:cNvSpPr>
          <p:nvPr>
            <p:ph type="title"/>
          </p:nvPr>
        </p:nvSpPr>
        <p:spPr>
          <a:xfrm>
            <a:off x="1125014" y="225787"/>
            <a:ext cx="9932691" cy="782063"/>
          </a:xfrm>
        </p:spPr>
        <p:txBody>
          <a:bodyPr vert="horz" lIns="91440" tIns="45720" rIns="91440" bIns="45720" rtlCol="0" anchor="b">
            <a:normAutofit/>
          </a:bodyPr>
          <a:lstStyle/>
          <a:p>
            <a:pPr algn="ctr"/>
            <a:r>
              <a:rPr lang="en-US" dirty="0">
                <a:solidFill>
                  <a:srgbClr val="FFFFFF"/>
                </a:solidFill>
              </a:rPr>
              <a:t>Dataset Overview/Knowledge Graph Data</a:t>
            </a:r>
          </a:p>
        </p:txBody>
      </p:sp>
      <p:sp>
        <p:nvSpPr>
          <p:cNvPr id="24" name="Rectangle 23">
            <a:extLst>
              <a:ext uri="{FF2B5EF4-FFF2-40B4-BE49-F238E27FC236}">
                <a16:creationId xmlns:a16="http://schemas.microsoft.com/office/drawing/2014/main" id="{977ACDD7-882D-4B81-A213-84C82B96B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 y="2888341"/>
            <a:ext cx="12203819" cy="3968158"/>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5CFE325D-E7B6-C9A9-A1AF-1FD5675117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6904" y="1149704"/>
            <a:ext cx="5465131" cy="5465131"/>
          </a:xfrm>
          <a:prstGeom prst="rect">
            <a:avLst/>
          </a:prstGeom>
        </p:spPr>
      </p:pic>
      <p:graphicFrame>
        <p:nvGraphicFramePr>
          <p:cNvPr id="8" name="Table 7">
            <a:extLst>
              <a:ext uri="{FF2B5EF4-FFF2-40B4-BE49-F238E27FC236}">
                <a16:creationId xmlns:a16="http://schemas.microsoft.com/office/drawing/2014/main" id="{92336296-2929-A23F-18C3-9FACC2B30636}"/>
              </a:ext>
            </a:extLst>
          </p:cNvPr>
          <p:cNvGraphicFramePr>
            <a:graphicFrameLocks noGrp="1"/>
          </p:cNvGraphicFramePr>
          <p:nvPr>
            <p:extLst>
              <p:ext uri="{D42A27DB-BD31-4B8C-83A1-F6EECF244321}">
                <p14:modId xmlns:p14="http://schemas.microsoft.com/office/powerpoint/2010/main" val="3082775147"/>
              </p:ext>
            </p:extLst>
          </p:nvPr>
        </p:nvGraphicFramePr>
        <p:xfrm>
          <a:off x="391403" y="1970400"/>
          <a:ext cx="5525304" cy="3677364"/>
        </p:xfrm>
        <a:graphic>
          <a:graphicData uri="http://schemas.openxmlformats.org/drawingml/2006/table">
            <a:tbl>
              <a:tblPr firstRow="1" bandRow="1">
                <a:tableStyleId>{5C22544A-7EE6-4342-B048-85BDC9FD1C3A}</a:tableStyleId>
              </a:tblPr>
              <a:tblGrid>
                <a:gridCol w="1267811">
                  <a:extLst>
                    <a:ext uri="{9D8B030D-6E8A-4147-A177-3AD203B41FA5}">
                      <a16:colId xmlns:a16="http://schemas.microsoft.com/office/drawing/2014/main" val="2506342065"/>
                    </a:ext>
                  </a:extLst>
                </a:gridCol>
                <a:gridCol w="1517099">
                  <a:extLst>
                    <a:ext uri="{9D8B030D-6E8A-4147-A177-3AD203B41FA5}">
                      <a16:colId xmlns:a16="http://schemas.microsoft.com/office/drawing/2014/main" val="1843915763"/>
                    </a:ext>
                  </a:extLst>
                </a:gridCol>
                <a:gridCol w="1502261">
                  <a:extLst>
                    <a:ext uri="{9D8B030D-6E8A-4147-A177-3AD203B41FA5}">
                      <a16:colId xmlns:a16="http://schemas.microsoft.com/office/drawing/2014/main" val="2511026997"/>
                    </a:ext>
                  </a:extLst>
                </a:gridCol>
                <a:gridCol w="1238133">
                  <a:extLst>
                    <a:ext uri="{9D8B030D-6E8A-4147-A177-3AD203B41FA5}">
                      <a16:colId xmlns:a16="http://schemas.microsoft.com/office/drawing/2014/main" val="4029460133"/>
                    </a:ext>
                  </a:extLst>
                </a:gridCol>
              </a:tblGrid>
              <a:tr h="423570">
                <a:tc>
                  <a:txBody>
                    <a:bodyPr/>
                    <a:lstStyle/>
                    <a:p>
                      <a:pPr algn="ctr"/>
                      <a:r>
                        <a:rPr lang="en-US" sz="1400"/>
                        <a:t>SUBJECT</a:t>
                      </a:r>
                    </a:p>
                  </a:txBody>
                  <a:tcPr marL="69397" marR="69397" marT="34698" marB="34698"/>
                </a:tc>
                <a:tc>
                  <a:txBody>
                    <a:bodyPr/>
                    <a:lstStyle/>
                    <a:p>
                      <a:pPr algn="ctr"/>
                      <a:r>
                        <a:rPr lang="en-US" sz="1400"/>
                        <a:t>PREDICATE</a:t>
                      </a:r>
                    </a:p>
                  </a:txBody>
                  <a:tcPr marL="69397" marR="69397" marT="34698" marB="34698"/>
                </a:tc>
                <a:tc>
                  <a:txBody>
                    <a:bodyPr/>
                    <a:lstStyle/>
                    <a:p>
                      <a:pPr algn="ctr"/>
                      <a:r>
                        <a:rPr lang="en-US" sz="1400"/>
                        <a:t>OBJECT</a:t>
                      </a:r>
                    </a:p>
                  </a:txBody>
                  <a:tcPr marL="69397" marR="69397" marT="34698" marB="34698"/>
                </a:tc>
                <a:tc>
                  <a:txBody>
                    <a:bodyPr/>
                    <a:lstStyle/>
                    <a:p>
                      <a:pPr algn="ctr"/>
                      <a:r>
                        <a:rPr lang="en-US" sz="1400"/>
                        <a:t>DATE</a:t>
                      </a:r>
                    </a:p>
                  </a:txBody>
                  <a:tcPr marL="69397" marR="69397" marT="34698" marB="34698"/>
                </a:tc>
                <a:extLst>
                  <a:ext uri="{0D108BD9-81ED-4DB2-BD59-A6C34878D82A}">
                    <a16:rowId xmlns:a16="http://schemas.microsoft.com/office/drawing/2014/main" val="1439745094"/>
                  </a:ext>
                </a:extLst>
              </a:tr>
              <a:tr h="391482">
                <a:tc>
                  <a:txBody>
                    <a:bodyPr/>
                    <a:lstStyle/>
                    <a:p>
                      <a:pPr algn="ctr"/>
                      <a:r>
                        <a:rPr lang="en-US" sz="1200"/>
                        <a:t>META</a:t>
                      </a:r>
                    </a:p>
                  </a:txBody>
                  <a:tcPr marL="69397" marR="69397" marT="34698" marB="34698"/>
                </a:tc>
                <a:tc>
                  <a:txBody>
                    <a:bodyPr/>
                    <a:lstStyle/>
                    <a:p>
                      <a:pPr algn="ctr"/>
                      <a:r>
                        <a:rPr lang="en-US" sz="1200"/>
                        <a:t>ACQUIRES</a:t>
                      </a:r>
                    </a:p>
                  </a:txBody>
                  <a:tcPr marL="69397" marR="69397" marT="34698" marB="34698"/>
                </a:tc>
                <a:tc>
                  <a:txBody>
                    <a:bodyPr/>
                    <a:lstStyle/>
                    <a:p>
                      <a:pPr algn="ctr"/>
                      <a:r>
                        <a:rPr lang="en-US" sz="1200" dirty="0"/>
                        <a:t>MANUS AI</a:t>
                      </a:r>
                    </a:p>
                  </a:txBody>
                  <a:tcPr marL="69397" marR="69397" marT="34698" marB="34698"/>
                </a:tc>
                <a:tc>
                  <a:txBody>
                    <a:bodyPr/>
                    <a:lstStyle/>
                    <a:p>
                      <a:pPr algn="ctr"/>
                      <a:r>
                        <a:rPr lang="en-US" sz="1200"/>
                        <a:t>29/12/2025</a:t>
                      </a:r>
                    </a:p>
                  </a:txBody>
                  <a:tcPr marL="69397" marR="69397" marT="34698" marB="34698"/>
                </a:tc>
                <a:extLst>
                  <a:ext uri="{0D108BD9-81ED-4DB2-BD59-A6C34878D82A}">
                    <a16:rowId xmlns:a16="http://schemas.microsoft.com/office/drawing/2014/main" val="67430822"/>
                  </a:ext>
                </a:extLst>
              </a:tr>
              <a:tr h="648192">
                <a:tc>
                  <a:txBody>
                    <a:bodyPr/>
                    <a:lstStyle/>
                    <a:p>
                      <a:pPr algn="ctr"/>
                      <a:r>
                        <a:rPr lang="en-US" sz="1200"/>
                        <a:t>MANUS AI</a:t>
                      </a:r>
                    </a:p>
                  </a:txBody>
                  <a:tcPr marL="69397" marR="69397" marT="34698" marB="34698"/>
                </a:tc>
                <a:tc>
                  <a:txBody>
                    <a:bodyPr/>
                    <a:lstStyle/>
                    <a:p>
                      <a:pPr algn="ctr"/>
                      <a:r>
                        <a:rPr lang="en-US" sz="1200"/>
                        <a:t>IS_A</a:t>
                      </a:r>
                    </a:p>
                  </a:txBody>
                  <a:tcPr marL="69397" marR="69397" marT="34698" marB="34698"/>
                </a:tc>
                <a:tc>
                  <a:txBody>
                    <a:bodyPr/>
                    <a:lstStyle/>
                    <a:p>
                      <a:pPr algn="ctr"/>
                      <a:r>
                        <a:rPr lang="en-US" sz="1200"/>
                        <a:t>APPLICATIONS</a:t>
                      </a:r>
                    </a:p>
                  </a:txBody>
                  <a:tcPr marL="69397" marR="69397" marT="34698" marB="34698"/>
                </a:tc>
                <a:tc>
                  <a:txBody>
                    <a:bodyPr/>
                    <a:lstStyle/>
                    <a:p>
                      <a:pPr algn="ctr"/>
                      <a:endParaRPr lang="en-US" sz="1200"/>
                    </a:p>
                  </a:txBody>
                  <a:tcPr marL="69397" marR="69397" marT="34698" marB="34698"/>
                </a:tc>
                <a:extLst>
                  <a:ext uri="{0D108BD9-81ED-4DB2-BD59-A6C34878D82A}">
                    <a16:rowId xmlns:a16="http://schemas.microsoft.com/office/drawing/2014/main" val="3017532986"/>
                  </a:ext>
                </a:extLst>
              </a:tr>
              <a:tr h="391482">
                <a:tc>
                  <a:txBody>
                    <a:bodyPr/>
                    <a:lstStyle/>
                    <a:p>
                      <a:pPr algn="ctr"/>
                      <a:r>
                        <a:rPr lang="en-US" sz="1200"/>
                        <a:t>MANUS AI</a:t>
                      </a:r>
                    </a:p>
                  </a:txBody>
                  <a:tcPr marL="69397" marR="69397" marT="34698" marB="34698"/>
                </a:tc>
                <a:tc>
                  <a:txBody>
                    <a:bodyPr/>
                    <a:lstStyle/>
                    <a:p>
                      <a:pPr algn="ctr"/>
                      <a:r>
                        <a:rPr lang="en-US" sz="1200" dirty="0"/>
                        <a:t>DEAL_VALUE</a:t>
                      </a:r>
                    </a:p>
                  </a:txBody>
                  <a:tcPr marL="69397" marR="69397" marT="34698" marB="34698"/>
                </a:tc>
                <a:tc>
                  <a:txBody>
                    <a:bodyPr/>
                    <a:lstStyle/>
                    <a:p>
                      <a:pPr algn="ctr"/>
                      <a:r>
                        <a:rPr lang="en-US" sz="1200"/>
                        <a:t>2,000,000,000</a:t>
                      </a:r>
                    </a:p>
                  </a:txBody>
                  <a:tcPr marL="69397" marR="69397" marT="34698" marB="34698"/>
                </a:tc>
                <a:tc>
                  <a:txBody>
                    <a:bodyPr/>
                    <a:lstStyle/>
                    <a:p>
                      <a:pPr algn="ctr"/>
                      <a:endParaRPr lang="en-US" sz="1200"/>
                    </a:p>
                  </a:txBody>
                  <a:tcPr marL="69397" marR="69397" marT="34698" marB="34698"/>
                </a:tc>
                <a:extLst>
                  <a:ext uri="{0D108BD9-81ED-4DB2-BD59-A6C34878D82A}">
                    <a16:rowId xmlns:a16="http://schemas.microsoft.com/office/drawing/2014/main" val="550864850"/>
                  </a:ext>
                </a:extLst>
              </a:tr>
              <a:tr h="391482">
                <a:tc>
                  <a:txBody>
                    <a:bodyPr/>
                    <a:lstStyle/>
                    <a:p>
                      <a:pPr algn="ctr"/>
                      <a:r>
                        <a:rPr lang="en-US" sz="1200"/>
                        <a:t>APPLE</a:t>
                      </a:r>
                    </a:p>
                  </a:txBody>
                  <a:tcPr marL="69397" marR="69397" marT="34698" marB="34698"/>
                </a:tc>
                <a:tc>
                  <a:txBody>
                    <a:bodyPr/>
                    <a:lstStyle/>
                    <a:p>
                      <a:pPr algn="ctr"/>
                      <a:r>
                        <a:rPr lang="en-US" sz="1200"/>
                        <a:t>ACQUIRES</a:t>
                      </a:r>
                    </a:p>
                  </a:txBody>
                  <a:tcPr marL="69397" marR="69397" marT="34698" marB="34698"/>
                </a:tc>
                <a:tc>
                  <a:txBody>
                    <a:bodyPr/>
                    <a:lstStyle/>
                    <a:p>
                      <a:pPr algn="ctr"/>
                      <a:r>
                        <a:rPr lang="en-US" sz="1200"/>
                        <a:t>Q.AI</a:t>
                      </a:r>
                    </a:p>
                  </a:txBody>
                  <a:tcPr marL="69397" marR="69397" marT="34698" marB="34698"/>
                </a:tc>
                <a:tc>
                  <a:txBody>
                    <a:bodyPr/>
                    <a:lstStyle/>
                    <a:p>
                      <a:pPr algn="ctr"/>
                      <a:r>
                        <a:rPr lang="en-US" sz="1200" dirty="0"/>
                        <a:t>29/1/2026</a:t>
                      </a:r>
                    </a:p>
                  </a:txBody>
                  <a:tcPr marL="69397" marR="69397" marT="34698" marB="34698"/>
                </a:tc>
                <a:extLst>
                  <a:ext uri="{0D108BD9-81ED-4DB2-BD59-A6C34878D82A}">
                    <a16:rowId xmlns:a16="http://schemas.microsoft.com/office/drawing/2014/main" val="2793247512"/>
                  </a:ext>
                </a:extLst>
              </a:tr>
              <a:tr h="391482">
                <a:tc>
                  <a:txBody>
                    <a:bodyPr/>
                    <a:lstStyle/>
                    <a:p>
                      <a:pPr algn="ctr"/>
                      <a:r>
                        <a:rPr lang="en-US" sz="1200"/>
                        <a:t>Q.AI</a:t>
                      </a:r>
                    </a:p>
                  </a:txBody>
                  <a:tcPr marL="69397" marR="69397" marT="34698" marB="34698"/>
                </a:tc>
                <a:tc>
                  <a:txBody>
                    <a:bodyPr/>
                    <a:lstStyle/>
                    <a:p>
                      <a:pPr algn="ctr"/>
                      <a:r>
                        <a:rPr lang="en-US" sz="1200"/>
                        <a:t>IS_A</a:t>
                      </a:r>
                    </a:p>
                  </a:txBody>
                  <a:tcPr marL="69397" marR="69397" marT="34698" marB="34698"/>
                </a:tc>
                <a:tc>
                  <a:txBody>
                    <a:bodyPr/>
                    <a:lstStyle/>
                    <a:p>
                      <a:pPr algn="ctr"/>
                      <a:r>
                        <a:rPr lang="en-US" sz="1200"/>
                        <a:t>MODELING</a:t>
                      </a:r>
                    </a:p>
                  </a:txBody>
                  <a:tcPr marL="69397" marR="69397" marT="34698" marB="34698"/>
                </a:tc>
                <a:tc>
                  <a:txBody>
                    <a:bodyPr/>
                    <a:lstStyle/>
                    <a:p>
                      <a:pPr algn="ctr"/>
                      <a:endParaRPr lang="en-US" sz="1200"/>
                    </a:p>
                  </a:txBody>
                  <a:tcPr marL="69397" marR="69397" marT="34698" marB="34698"/>
                </a:tc>
                <a:extLst>
                  <a:ext uri="{0D108BD9-81ED-4DB2-BD59-A6C34878D82A}">
                    <a16:rowId xmlns:a16="http://schemas.microsoft.com/office/drawing/2014/main" val="3870620688"/>
                  </a:ext>
                </a:extLst>
              </a:tr>
              <a:tr h="648192">
                <a:tc>
                  <a:txBody>
                    <a:bodyPr/>
                    <a:lstStyle/>
                    <a:p>
                      <a:pPr algn="ctr"/>
                      <a:r>
                        <a:rPr lang="en-US" sz="1200"/>
                        <a:t>Q.AI</a:t>
                      </a:r>
                    </a:p>
                  </a:txBody>
                  <a:tcPr marL="69397" marR="69397" marT="34698" marB="34698"/>
                </a:tc>
                <a:tc>
                  <a:txBody>
                    <a:bodyPr/>
                    <a:lstStyle/>
                    <a:p>
                      <a:pPr algn="ctr"/>
                      <a:r>
                        <a:rPr lang="en-US" sz="1200"/>
                        <a:t>IS_A</a:t>
                      </a:r>
                    </a:p>
                  </a:txBody>
                  <a:tcPr marL="69397" marR="69397" marT="34698" marB="34698"/>
                </a:tc>
                <a:tc>
                  <a:txBody>
                    <a:bodyPr/>
                    <a:lstStyle/>
                    <a:p>
                      <a:pPr algn="ctr"/>
                      <a:r>
                        <a:rPr lang="en-US" sz="1200"/>
                        <a:t>APPLICATIONS</a:t>
                      </a:r>
                    </a:p>
                  </a:txBody>
                  <a:tcPr marL="69397" marR="69397" marT="34698" marB="34698"/>
                </a:tc>
                <a:tc>
                  <a:txBody>
                    <a:bodyPr/>
                    <a:lstStyle/>
                    <a:p>
                      <a:pPr algn="ctr"/>
                      <a:endParaRPr lang="en-US" sz="1200"/>
                    </a:p>
                  </a:txBody>
                  <a:tcPr marL="69397" marR="69397" marT="34698" marB="34698"/>
                </a:tc>
                <a:extLst>
                  <a:ext uri="{0D108BD9-81ED-4DB2-BD59-A6C34878D82A}">
                    <a16:rowId xmlns:a16="http://schemas.microsoft.com/office/drawing/2014/main" val="3102287258"/>
                  </a:ext>
                </a:extLst>
              </a:tr>
              <a:tr h="391482">
                <a:tc>
                  <a:txBody>
                    <a:bodyPr/>
                    <a:lstStyle/>
                    <a:p>
                      <a:pPr algn="ctr"/>
                      <a:r>
                        <a:rPr lang="en-US" sz="1200"/>
                        <a:t>Q.AI</a:t>
                      </a:r>
                    </a:p>
                  </a:txBody>
                  <a:tcPr marL="69397" marR="69397" marT="34698" marB="34698"/>
                </a:tc>
                <a:tc>
                  <a:txBody>
                    <a:bodyPr/>
                    <a:lstStyle/>
                    <a:p>
                      <a:pPr algn="ctr"/>
                      <a:r>
                        <a:rPr lang="en-US" sz="1200"/>
                        <a:t>DEAL_VALUE</a:t>
                      </a:r>
                    </a:p>
                  </a:txBody>
                  <a:tcPr marL="69397" marR="69397" marT="34698" marB="34698"/>
                </a:tc>
                <a:tc>
                  <a:txBody>
                    <a:bodyPr/>
                    <a:lstStyle/>
                    <a:p>
                      <a:pPr algn="ctr"/>
                      <a:r>
                        <a:rPr lang="en-US" sz="1200"/>
                        <a:t>2,000,000,000</a:t>
                      </a:r>
                    </a:p>
                  </a:txBody>
                  <a:tcPr marL="69397" marR="69397" marT="34698" marB="34698"/>
                </a:tc>
                <a:tc>
                  <a:txBody>
                    <a:bodyPr/>
                    <a:lstStyle/>
                    <a:p>
                      <a:pPr algn="ctr"/>
                      <a:endParaRPr lang="en-US" sz="1200" dirty="0"/>
                    </a:p>
                  </a:txBody>
                  <a:tcPr marL="69397" marR="69397" marT="34698" marB="34698"/>
                </a:tc>
                <a:extLst>
                  <a:ext uri="{0D108BD9-81ED-4DB2-BD59-A6C34878D82A}">
                    <a16:rowId xmlns:a16="http://schemas.microsoft.com/office/drawing/2014/main" val="1984988100"/>
                  </a:ext>
                </a:extLst>
              </a:tr>
            </a:tbl>
          </a:graphicData>
        </a:graphic>
      </p:graphicFrame>
    </p:spTree>
    <p:extLst>
      <p:ext uri="{BB962C8B-B14F-4D97-AF65-F5344CB8AC3E}">
        <p14:creationId xmlns:p14="http://schemas.microsoft.com/office/powerpoint/2010/main" val="1462840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E30C3-3B92-F604-1C06-421FA1555528}"/>
              </a:ext>
            </a:extLst>
          </p:cNvPr>
          <p:cNvSpPr>
            <a:spLocks noGrp="1"/>
          </p:cNvSpPr>
          <p:nvPr>
            <p:ph type="title"/>
          </p:nvPr>
        </p:nvSpPr>
        <p:spPr/>
        <p:txBody>
          <a:bodyPr/>
          <a:lstStyle/>
          <a:p>
            <a:pPr algn="ctr"/>
            <a:r>
              <a:rPr lang="en-US" dirty="0"/>
              <a:t>Learning Company Embeddings</a:t>
            </a:r>
          </a:p>
        </p:txBody>
      </p:sp>
      <p:sp>
        <p:nvSpPr>
          <p:cNvPr id="3" name="Content Placeholder 2">
            <a:extLst>
              <a:ext uri="{FF2B5EF4-FFF2-40B4-BE49-F238E27FC236}">
                <a16:creationId xmlns:a16="http://schemas.microsoft.com/office/drawing/2014/main" id="{675BA10D-60BF-43AC-52B4-6EB7B2AC43E1}"/>
              </a:ext>
            </a:extLst>
          </p:cNvPr>
          <p:cNvSpPr>
            <a:spLocks noGrp="1"/>
          </p:cNvSpPr>
          <p:nvPr>
            <p:ph idx="1"/>
          </p:nvPr>
        </p:nvSpPr>
        <p:spPr>
          <a:xfrm>
            <a:off x="6096000" y="1825625"/>
            <a:ext cx="5257800" cy="4351338"/>
          </a:xfrm>
        </p:spPr>
        <p:txBody>
          <a:bodyPr/>
          <a:lstStyle/>
          <a:p>
            <a:r>
              <a:rPr lang="en-US" dirty="0"/>
              <a:t>TransE maps companies and relationships in vectors</a:t>
            </a:r>
          </a:p>
          <a:p>
            <a:r>
              <a:rPr lang="en-US" dirty="0"/>
              <a:t>Captures patterns in acquisitions, which types of companies each firm targets</a:t>
            </a:r>
          </a:p>
          <a:p>
            <a:r>
              <a:rPr lang="en-US" dirty="0"/>
              <a:t>Embeddings allow the model to predict new potential acquisitions</a:t>
            </a:r>
          </a:p>
          <a:p>
            <a:r>
              <a:rPr lang="en-US" dirty="0"/>
              <a:t>Trained using the dataset of triples (head, relationship, tail)</a:t>
            </a:r>
          </a:p>
        </p:txBody>
      </p:sp>
      <p:sp>
        <p:nvSpPr>
          <p:cNvPr id="4" name="Rectangle 3">
            <a:extLst>
              <a:ext uri="{FF2B5EF4-FFF2-40B4-BE49-F238E27FC236}">
                <a16:creationId xmlns:a16="http://schemas.microsoft.com/office/drawing/2014/main" id="{FF29B0F4-8B9E-7F25-C3AB-733767093D8D}"/>
              </a:ext>
            </a:extLst>
          </p:cNvPr>
          <p:cNvSpPr/>
          <p:nvPr/>
        </p:nvSpPr>
        <p:spPr>
          <a:xfrm>
            <a:off x="687629" y="1825625"/>
            <a:ext cx="4974336" cy="43513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D6EA2D37-5260-D124-36B9-E4E895ADD15D}"/>
              </a:ext>
            </a:extLst>
          </p:cNvPr>
          <p:cNvSpPr/>
          <p:nvPr/>
        </p:nvSpPr>
        <p:spPr>
          <a:xfrm>
            <a:off x="783947" y="2088882"/>
            <a:ext cx="1185062" cy="39502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GOOGLE</a:t>
            </a:r>
          </a:p>
        </p:txBody>
      </p:sp>
      <p:sp>
        <p:nvSpPr>
          <p:cNvPr id="6" name="Oval 5">
            <a:extLst>
              <a:ext uri="{FF2B5EF4-FFF2-40B4-BE49-F238E27FC236}">
                <a16:creationId xmlns:a16="http://schemas.microsoft.com/office/drawing/2014/main" id="{4FB22592-F1BB-4082-F206-A4963D02AB4A}"/>
              </a:ext>
            </a:extLst>
          </p:cNvPr>
          <p:cNvSpPr/>
          <p:nvPr/>
        </p:nvSpPr>
        <p:spPr>
          <a:xfrm>
            <a:off x="2582266" y="2088882"/>
            <a:ext cx="1185062" cy="39502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ACQUIRES</a:t>
            </a:r>
          </a:p>
        </p:txBody>
      </p:sp>
      <p:sp>
        <p:nvSpPr>
          <p:cNvPr id="7" name="Oval 6">
            <a:extLst>
              <a:ext uri="{FF2B5EF4-FFF2-40B4-BE49-F238E27FC236}">
                <a16:creationId xmlns:a16="http://schemas.microsoft.com/office/drawing/2014/main" id="{1ACD4504-3342-AF87-C45A-87CC9BD3D584}"/>
              </a:ext>
            </a:extLst>
          </p:cNvPr>
          <p:cNvSpPr/>
          <p:nvPr/>
        </p:nvSpPr>
        <p:spPr>
          <a:xfrm>
            <a:off x="4380585" y="2092932"/>
            <a:ext cx="1185062" cy="39502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MANUS AI</a:t>
            </a:r>
          </a:p>
        </p:txBody>
      </p:sp>
      <p:cxnSp>
        <p:nvCxnSpPr>
          <p:cNvPr id="9" name="Straight Arrow Connector 8">
            <a:extLst>
              <a:ext uri="{FF2B5EF4-FFF2-40B4-BE49-F238E27FC236}">
                <a16:creationId xmlns:a16="http://schemas.microsoft.com/office/drawing/2014/main" id="{A5A69872-B25F-BA66-6166-B74E853FC81B}"/>
              </a:ext>
            </a:extLst>
          </p:cNvPr>
          <p:cNvCxnSpPr/>
          <p:nvPr/>
        </p:nvCxnSpPr>
        <p:spPr>
          <a:xfrm>
            <a:off x="2040941" y="2286392"/>
            <a:ext cx="45354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C0378F1E-5730-9F3F-F303-594CFA8CDFB5}"/>
              </a:ext>
            </a:extLst>
          </p:cNvPr>
          <p:cNvCxnSpPr/>
          <p:nvPr/>
        </p:nvCxnSpPr>
        <p:spPr>
          <a:xfrm>
            <a:off x="3853891" y="2286392"/>
            <a:ext cx="45354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Oval 11">
            <a:extLst>
              <a:ext uri="{FF2B5EF4-FFF2-40B4-BE49-F238E27FC236}">
                <a16:creationId xmlns:a16="http://schemas.microsoft.com/office/drawing/2014/main" id="{28FB8C73-73DF-881B-10D5-D399BBD5EE71}"/>
              </a:ext>
            </a:extLst>
          </p:cNvPr>
          <p:cNvSpPr/>
          <p:nvPr/>
        </p:nvSpPr>
        <p:spPr>
          <a:xfrm>
            <a:off x="783947" y="2823233"/>
            <a:ext cx="1185062" cy="39502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MANUS AI</a:t>
            </a:r>
          </a:p>
        </p:txBody>
      </p:sp>
      <p:sp>
        <p:nvSpPr>
          <p:cNvPr id="13" name="Oval 12">
            <a:extLst>
              <a:ext uri="{FF2B5EF4-FFF2-40B4-BE49-F238E27FC236}">
                <a16:creationId xmlns:a16="http://schemas.microsoft.com/office/drawing/2014/main" id="{B6B5E381-7438-4E62-97A6-0F512C949092}"/>
              </a:ext>
            </a:extLst>
          </p:cNvPr>
          <p:cNvSpPr/>
          <p:nvPr/>
        </p:nvSpPr>
        <p:spPr>
          <a:xfrm>
            <a:off x="2582266" y="2823233"/>
            <a:ext cx="1185062" cy="39502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IS_A</a:t>
            </a:r>
          </a:p>
        </p:txBody>
      </p:sp>
      <p:sp>
        <p:nvSpPr>
          <p:cNvPr id="14" name="Oval 13">
            <a:extLst>
              <a:ext uri="{FF2B5EF4-FFF2-40B4-BE49-F238E27FC236}">
                <a16:creationId xmlns:a16="http://schemas.microsoft.com/office/drawing/2014/main" id="{E624DCDD-3B9B-9ED9-D85A-02F61D839FB6}"/>
              </a:ext>
            </a:extLst>
          </p:cNvPr>
          <p:cNvSpPr/>
          <p:nvPr/>
        </p:nvSpPr>
        <p:spPr>
          <a:xfrm>
            <a:off x="4380585" y="2823232"/>
            <a:ext cx="1185062" cy="39502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dirty="0"/>
          </a:p>
        </p:txBody>
      </p:sp>
      <p:sp>
        <p:nvSpPr>
          <p:cNvPr id="17" name="TextBox 16">
            <a:extLst>
              <a:ext uri="{FF2B5EF4-FFF2-40B4-BE49-F238E27FC236}">
                <a16:creationId xmlns:a16="http://schemas.microsoft.com/office/drawing/2014/main" id="{3B3BF5E6-BD73-5F3F-41E9-54B2895F0A72}"/>
              </a:ext>
            </a:extLst>
          </p:cNvPr>
          <p:cNvSpPr txBox="1"/>
          <p:nvPr/>
        </p:nvSpPr>
        <p:spPr>
          <a:xfrm>
            <a:off x="4420818" y="2889940"/>
            <a:ext cx="1104595" cy="261604"/>
          </a:xfrm>
          <a:prstGeom prst="rect">
            <a:avLst/>
          </a:prstGeom>
          <a:noFill/>
        </p:spPr>
        <p:txBody>
          <a:bodyPr wrap="square" rtlCol="0">
            <a:spAutoFit/>
          </a:bodyPr>
          <a:lstStyle/>
          <a:p>
            <a:pPr algn="ctr"/>
            <a:r>
              <a:rPr lang="en-US" sz="1100" dirty="0">
                <a:solidFill>
                  <a:schemeClr val="bg1"/>
                </a:solidFill>
              </a:rPr>
              <a:t>APPLICATIONS</a:t>
            </a:r>
          </a:p>
        </p:txBody>
      </p:sp>
      <p:cxnSp>
        <p:nvCxnSpPr>
          <p:cNvPr id="18" name="Straight Arrow Connector 17">
            <a:extLst>
              <a:ext uri="{FF2B5EF4-FFF2-40B4-BE49-F238E27FC236}">
                <a16:creationId xmlns:a16="http://schemas.microsoft.com/office/drawing/2014/main" id="{E3EE760A-FC3F-D33D-EE8F-5E7D627A3EE9}"/>
              </a:ext>
            </a:extLst>
          </p:cNvPr>
          <p:cNvCxnSpPr/>
          <p:nvPr/>
        </p:nvCxnSpPr>
        <p:spPr>
          <a:xfrm>
            <a:off x="2040941" y="3023572"/>
            <a:ext cx="45354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17D89087-03CC-0E48-EA94-75326273953F}"/>
              </a:ext>
            </a:extLst>
          </p:cNvPr>
          <p:cNvCxnSpPr/>
          <p:nvPr/>
        </p:nvCxnSpPr>
        <p:spPr>
          <a:xfrm>
            <a:off x="3853891" y="3020742"/>
            <a:ext cx="45354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11" name="Picture 10">
            <a:extLst>
              <a:ext uri="{FF2B5EF4-FFF2-40B4-BE49-F238E27FC236}">
                <a16:creationId xmlns:a16="http://schemas.microsoft.com/office/drawing/2014/main" id="{142433AC-C000-5C84-3888-D55770DECB49}"/>
              </a:ext>
            </a:extLst>
          </p:cNvPr>
          <p:cNvPicPr>
            <a:picLocks noChangeAspect="1"/>
          </p:cNvPicPr>
          <p:nvPr/>
        </p:nvPicPr>
        <p:blipFill>
          <a:blip r:embed="rId3"/>
          <a:stretch>
            <a:fillRect/>
          </a:stretch>
        </p:blipFill>
        <p:spPr>
          <a:xfrm>
            <a:off x="992236" y="3952602"/>
            <a:ext cx="4360158" cy="1366914"/>
          </a:xfrm>
          <a:prstGeom prst="rect">
            <a:avLst/>
          </a:prstGeom>
        </p:spPr>
      </p:pic>
    </p:spTree>
    <p:extLst>
      <p:ext uri="{BB962C8B-B14F-4D97-AF65-F5344CB8AC3E}">
        <p14:creationId xmlns:p14="http://schemas.microsoft.com/office/powerpoint/2010/main" val="40740252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77127-AC8F-2322-FF65-28543CE32C85}"/>
              </a:ext>
            </a:extLst>
          </p:cNvPr>
          <p:cNvSpPr>
            <a:spLocks noGrp="1"/>
          </p:cNvSpPr>
          <p:nvPr>
            <p:ph type="title"/>
          </p:nvPr>
        </p:nvSpPr>
        <p:spPr/>
        <p:txBody>
          <a:bodyPr>
            <a:normAutofit/>
          </a:bodyPr>
          <a:lstStyle/>
          <a:p>
            <a:pPr algn="ctr"/>
            <a:r>
              <a:rPr lang="en-US" sz="4000" dirty="0"/>
              <a:t>Predicting Acquisitions and Explaining with Lime</a:t>
            </a:r>
          </a:p>
        </p:txBody>
      </p:sp>
      <p:graphicFrame>
        <p:nvGraphicFramePr>
          <p:cNvPr id="5" name="Content Placeholder 4">
            <a:extLst>
              <a:ext uri="{FF2B5EF4-FFF2-40B4-BE49-F238E27FC236}">
                <a16:creationId xmlns:a16="http://schemas.microsoft.com/office/drawing/2014/main" id="{98BBB957-70F6-7DB9-93E6-DAB5275C3E57}"/>
              </a:ext>
            </a:extLst>
          </p:cNvPr>
          <p:cNvGraphicFramePr>
            <a:graphicFrameLocks noGrp="1"/>
          </p:cNvGraphicFramePr>
          <p:nvPr>
            <p:ph idx="1"/>
            <p:extLst>
              <p:ext uri="{D42A27DB-BD31-4B8C-83A1-F6EECF244321}">
                <p14:modId xmlns:p14="http://schemas.microsoft.com/office/powerpoint/2010/main" val="869868519"/>
              </p:ext>
            </p:extLst>
          </p:nvPr>
        </p:nvGraphicFramePr>
        <p:xfrm>
          <a:off x="1018643" y="1690688"/>
          <a:ext cx="5533338" cy="2926080"/>
        </p:xfrm>
        <a:graphic>
          <a:graphicData uri="http://schemas.openxmlformats.org/drawingml/2006/table">
            <a:tbl>
              <a:tblPr firstRow="1" bandRow="1">
                <a:tableStyleId>{5C22544A-7EE6-4342-B048-85BDC9FD1C3A}</a:tableStyleId>
              </a:tblPr>
              <a:tblGrid>
                <a:gridCol w="1844446">
                  <a:extLst>
                    <a:ext uri="{9D8B030D-6E8A-4147-A177-3AD203B41FA5}">
                      <a16:colId xmlns:a16="http://schemas.microsoft.com/office/drawing/2014/main" val="212511786"/>
                    </a:ext>
                  </a:extLst>
                </a:gridCol>
                <a:gridCol w="1844446">
                  <a:extLst>
                    <a:ext uri="{9D8B030D-6E8A-4147-A177-3AD203B41FA5}">
                      <a16:colId xmlns:a16="http://schemas.microsoft.com/office/drawing/2014/main" val="1988218113"/>
                    </a:ext>
                  </a:extLst>
                </a:gridCol>
                <a:gridCol w="1844446">
                  <a:extLst>
                    <a:ext uri="{9D8B030D-6E8A-4147-A177-3AD203B41FA5}">
                      <a16:colId xmlns:a16="http://schemas.microsoft.com/office/drawing/2014/main" val="3504950964"/>
                    </a:ext>
                  </a:extLst>
                </a:gridCol>
              </a:tblGrid>
              <a:tr h="300320">
                <a:tc>
                  <a:txBody>
                    <a:bodyPr/>
                    <a:lstStyle/>
                    <a:p>
                      <a:pPr algn="ctr"/>
                      <a:r>
                        <a:rPr lang="en-US" dirty="0" err="1"/>
                        <a:t>tail_id</a:t>
                      </a:r>
                      <a:endParaRPr lang="en-US" dirty="0"/>
                    </a:p>
                  </a:txBody>
                  <a:tcPr/>
                </a:tc>
                <a:tc>
                  <a:txBody>
                    <a:bodyPr/>
                    <a:lstStyle/>
                    <a:p>
                      <a:pPr algn="ctr"/>
                      <a:r>
                        <a:rPr lang="en-US" dirty="0"/>
                        <a:t>score</a:t>
                      </a:r>
                    </a:p>
                  </a:txBody>
                  <a:tcPr/>
                </a:tc>
                <a:tc>
                  <a:txBody>
                    <a:bodyPr/>
                    <a:lstStyle/>
                    <a:p>
                      <a:pPr algn="ctr"/>
                      <a:r>
                        <a:rPr lang="en-US" dirty="0" err="1"/>
                        <a:t>tail_label</a:t>
                      </a:r>
                      <a:endParaRPr lang="en-US" dirty="0"/>
                    </a:p>
                  </a:txBody>
                  <a:tcPr/>
                </a:tc>
                <a:extLst>
                  <a:ext uri="{0D108BD9-81ED-4DB2-BD59-A6C34878D82A}">
                    <a16:rowId xmlns:a16="http://schemas.microsoft.com/office/drawing/2014/main" val="2167791630"/>
                  </a:ext>
                </a:extLst>
              </a:tr>
              <a:tr h="300320">
                <a:tc>
                  <a:txBody>
                    <a:bodyPr/>
                    <a:lstStyle/>
                    <a:p>
                      <a:r>
                        <a:rPr lang="en-US" dirty="0"/>
                        <a:t>36</a:t>
                      </a:r>
                    </a:p>
                  </a:txBody>
                  <a:tcPr/>
                </a:tc>
                <a:tc>
                  <a:txBody>
                    <a:bodyPr/>
                    <a:lstStyle/>
                    <a:p>
                      <a:r>
                        <a:rPr lang="en-US" dirty="0"/>
                        <a:t>-</a:t>
                      </a:r>
                      <a:r>
                        <a:rPr lang="en-US" sz="1800" b="0" i="0" kern="1200" dirty="0">
                          <a:solidFill>
                            <a:schemeClr val="dk1"/>
                          </a:solidFill>
                          <a:effectLst/>
                          <a:latin typeface="+mn-lt"/>
                          <a:ea typeface="+mn-ea"/>
                          <a:cs typeface="+mn-cs"/>
                        </a:rPr>
                        <a:t>5.564336</a:t>
                      </a:r>
                      <a:endParaRPr lang="en-US" dirty="0"/>
                    </a:p>
                  </a:txBody>
                  <a:tcPr/>
                </a:tc>
                <a:tc>
                  <a:txBody>
                    <a:bodyPr/>
                    <a:lstStyle/>
                    <a:p>
                      <a:r>
                        <a:rPr lang="en-US" dirty="0"/>
                        <a:t>ATLAS ML</a:t>
                      </a:r>
                    </a:p>
                  </a:txBody>
                  <a:tcPr/>
                </a:tc>
                <a:extLst>
                  <a:ext uri="{0D108BD9-81ED-4DB2-BD59-A6C34878D82A}">
                    <a16:rowId xmlns:a16="http://schemas.microsoft.com/office/drawing/2014/main" val="1253836720"/>
                  </a:ext>
                </a:extLst>
              </a:tr>
              <a:tr h="300320">
                <a:tc>
                  <a:txBody>
                    <a:bodyPr/>
                    <a:lstStyle/>
                    <a:p>
                      <a:r>
                        <a:rPr lang="en-US" dirty="0"/>
                        <a:t>93</a:t>
                      </a:r>
                    </a:p>
                  </a:txBody>
                  <a:tcPr/>
                </a:tc>
                <a:tc>
                  <a:txBody>
                    <a:bodyPr/>
                    <a:lstStyle/>
                    <a:p>
                      <a:r>
                        <a:rPr lang="en-US" dirty="0"/>
                        <a:t>-</a:t>
                      </a:r>
                      <a:r>
                        <a:rPr lang="en-US" sz="1800" b="0" i="0" kern="1200" dirty="0">
                          <a:solidFill>
                            <a:schemeClr val="dk1"/>
                          </a:solidFill>
                          <a:effectLst/>
                          <a:latin typeface="+mn-lt"/>
                          <a:ea typeface="+mn-ea"/>
                          <a:cs typeface="+mn-cs"/>
                        </a:rPr>
                        <a:t>5.831578</a:t>
                      </a:r>
                      <a:endParaRPr lang="en-US" dirty="0"/>
                    </a:p>
                  </a:txBody>
                  <a:tcPr/>
                </a:tc>
                <a:tc>
                  <a:txBody>
                    <a:bodyPr/>
                    <a:lstStyle/>
                    <a:p>
                      <a:r>
                        <a:rPr lang="en-US" dirty="0"/>
                        <a:t>SCAPE</a:t>
                      </a:r>
                    </a:p>
                  </a:txBody>
                  <a:tcPr/>
                </a:tc>
                <a:extLst>
                  <a:ext uri="{0D108BD9-81ED-4DB2-BD59-A6C34878D82A}">
                    <a16:rowId xmlns:a16="http://schemas.microsoft.com/office/drawing/2014/main" val="2003540247"/>
                  </a:ext>
                </a:extLst>
              </a:tr>
              <a:tr h="300320">
                <a:tc>
                  <a:txBody>
                    <a:bodyPr/>
                    <a:lstStyle/>
                    <a:p>
                      <a:r>
                        <a:rPr lang="en-US" dirty="0"/>
                        <a:t>104</a:t>
                      </a:r>
                    </a:p>
                  </a:txBody>
                  <a:tcPr/>
                </a:tc>
                <a:tc>
                  <a:txBody>
                    <a:bodyPr/>
                    <a:lstStyle/>
                    <a:p>
                      <a:r>
                        <a:rPr lang="en-US" dirty="0"/>
                        <a:t>-</a:t>
                      </a:r>
                      <a:r>
                        <a:rPr lang="en-US" sz="1800" b="0" i="0" kern="1200" dirty="0">
                          <a:solidFill>
                            <a:schemeClr val="dk1"/>
                          </a:solidFill>
                          <a:effectLst/>
                          <a:latin typeface="+mn-lt"/>
                          <a:ea typeface="+mn-ea"/>
                          <a:cs typeface="+mn-cs"/>
                        </a:rPr>
                        <a:t>5.924926</a:t>
                      </a:r>
                      <a:endParaRPr lang="en-US" dirty="0"/>
                    </a:p>
                  </a:txBody>
                  <a:tcPr/>
                </a:tc>
                <a:tc>
                  <a:txBody>
                    <a:bodyPr/>
                    <a:lstStyle/>
                    <a:p>
                      <a:r>
                        <a:rPr lang="en-US" dirty="0"/>
                        <a:t>WAVEFORMS AI</a:t>
                      </a:r>
                    </a:p>
                  </a:txBody>
                  <a:tcPr/>
                </a:tc>
                <a:extLst>
                  <a:ext uri="{0D108BD9-81ED-4DB2-BD59-A6C34878D82A}">
                    <a16:rowId xmlns:a16="http://schemas.microsoft.com/office/drawing/2014/main" val="3582625617"/>
                  </a:ext>
                </a:extLst>
              </a:tr>
              <a:tr h="300320">
                <a:tc>
                  <a:txBody>
                    <a:bodyPr/>
                    <a:lstStyle/>
                    <a:p>
                      <a:r>
                        <a:rPr lang="en-US" dirty="0"/>
                        <a:t>…</a:t>
                      </a:r>
                    </a:p>
                  </a:txBody>
                  <a:tcPr/>
                </a:tc>
                <a:tc>
                  <a:txBody>
                    <a:bodyPr/>
                    <a:lstStyle/>
                    <a:p>
                      <a:r>
                        <a:rPr lang="en-US" dirty="0"/>
                        <a:t>…</a:t>
                      </a:r>
                    </a:p>
                  </a:txBody>
                  <a:tcPr/>
                </a:tc>
                <a:tc>
                  <a:txBody>
                    <a:bodyPr/>
                    <a:lstStyle/>
                    <a:p>
                      <a:r>
                        <a:rPr lang="en-US" dirty="0"/>
                        <a:t>…</a:t>
                      </a:r>
                    </a:p>
                  </a:txBody>
                  <a:tcPr/>
                </a:tc>
                <a:extLst>
                  <a:ext uri="{0D108BD9-81ED-4DB2-BD59-A6C34878D82A}">
                    <a16:rowId xmlns:a16="http://schemas.microsoft.com/office/drawing/2014/main" val="1831407458"/>
                  </a:ext>
                </a:extLst>
              </a:tr>
              <a:tr h="300320">
                <a:tc>
                  <a:txBody>
                    <a:bodyPr/>
                    <a:lstStyle/>
                    <a:p>
                      <a:r>
                        <a:rPr lang="en-US" dirty="0"/>
                        <a:t>61</a:t>
                      </a:r>
                    </a:p>
                  </a:txBody>
                  <a:tcPr/>
                </a:tc>
                <a:tc>
                  <a:txBody>
                    <a:bodyPr/>
                    <a:lstStyle/>
                    <a:p>
                      <a:r>
                        <a:rPr lang="en-US" dirty="0"/>
                        <a:t>-</a:t>
                      </a:r>
                      <a:r>
                        <a:rPr lang="en-US" sz="1800" b="0" i="0" kern="1200" dirty="0">
                          <a:solidFill>
                            <a:schemeClr val="dk1"/>
                          </a:solidFill>
                          <a:effectLst/>
                          <a:latin typeface="+mn-lt"/>
                          <a:ea typeface="+mn-ea"/>
                          <a:cs typeface="+mn-cs"/>
                        </a:rPr>
                        <a:t>9.939092</a:t>
                      </a:r>
                      <a:endParaRPr lang="en-US" dirty="0"/>
                    </a:p>
                  </a:txBody>
                  <a:tcPr/>
                </a:tc>
                <a:tc>
                  <a:txBody>
                    <a:bodyPr/>
                    <a:lstStyle/>
                    <a:p>
                      <a:r>
                        <a:rPr lang="en-US" dirty="0"/>
                        <a:t>GOOGLE</a:t>
                      </a:r>
                    </a:p>
                  </a:txBody>
                  <a:tcPr/>
                </a:tc>
                <a:extLst>
                  <a:ext uri="{0D108BD9-81ED-4DB2-BD59-A6C34878D82A}">
                    <a16:rowId xmlns:a16="http://schemas.microsoft.com/office/drawing/2014/main" val="3855356732"/>
                  </a:ext>
                </a:extLst>
              </a:tr>
              <a:tr h="300320">
                <a:tc>
                  <a:txBody>
                    <a:bodyPr/>
                    <a:lstStyle/>
                    <a:p>
                      <a:r>
                        <a:rPr lang="en-US" dirty="0"/>
                        <a:t>73</a:t>
                      </a:r>
                    </a:p>
                  </a:txBody>
                  <a:tcPr/>
                </a:tc>
                <a:tc>
                  <a:txBody>
                    <a:bodyPr/>
                    <a:lstStyle/>
                    <a:p>
                      <a:r>
                        <a:rPr lang="en-US" dirty="0"/>
                        <a:t>-</a:t>
                      </a:r>
                      <a:r>
                        <a:rPr lang="en-US" sz="1800" b="0" i="0" kern="1200" dirty="0">
                          <a:solidFill>
                            <a:schemeClr val="dk1"/>
                          </a:solidFill>
                          <a:effectLst/>
                          <a:latin typeface="+mn-lt"/>
                          <a:ea typeface="+mn-ea"/>
                          <a:cs typeface="+mn-cs"/>
                        </a:rPr>
                        <a:t>9.986247</a:t>
                      </a:r>
                      <a:endParaRPr lang="en-US" dirty="0"/>
                    </a:p>
                  </a:txBody>
                  <a:tcPr/>
                </a:tc>
                <a:tc>
                  <a:txBody>
                    <a:bodyPr/>
                    <a:lstStyle/>
                    <a:p>
                      <a:r>
                        <a:rPr lang="en-US" dirty="0"/>
                        <a:t>MICROSOFT</a:t>
                      </a:r>
                    </a:p>
                  </a:txBody>
                  <a:tcPr/>
                </a:tc>
                <a:extLst>
                  <a:ext uri="{0D108BD9-81ED-4DB2-BD59-A6C34878D82A}">
                    <a16:rowId xmlns:a16="http://schemas.microsoft.com/office/drawing/2014/main" val="1490877804"/>
                  </a:ext>
                </a:extLst>
              </a:tr>
              <a:tr h="300320">
                <a:tc>
                  <a:txBody>
                    <a:bodyPr/>
                    <a:lstStyle/>
                    <a:p>
                      <a:r>
                        <a:rPr lang="en-US" dirty="0"/>
                        <a:t>31</a:t>
                      </a:r>
                    </a:p>
                  </a:txBody>
                  <a:tcPr/>
                </a:tc>
                <a:tc>
                  <a:txBody>
                    <a:bodyPr/>
                    <a:lstStyle/>
                    <a:p>
                      <a:pPr algn="l">
                        <a:buNone/>
                      </a:pPr>
                      <a:r>
                        <a:rPr lang="en-US" dirty="0">
                          <a:effectLst/>
                        </a:rPr>
                        <a:t>-10.342355</a:t>
                      </a:r>
                    </a:p>
                  </a:txBody>
                  <a:tcPr anchor="ctr"/>
                </a:tc>
                <a:tc>
                  <a:txBody>
                    <a:bodyPr/>
                    <a:lstStyle/>
                    <a:p>
                      <a:pPr algn="l">
                        <a:buNone/>
                      </a:pPr>
                      <a:r>
                        <a:rPr lang="en-US" dirty="0">
                          <a:effectLst/>
                        </a:rPr>
                        <a:t>APPLE</a:t>
                      </a:r>
                    </a:p>
                  </a:txBody>
                  <a:tcPr anchor="ctr"/>
                </a:tc>
                <a:extLst>
                  <a:ext uri="{0D108BD9-81ED-4DB2-BD59-A6C34878D82A}">
                    <a16:rowId xmlns:a16="http://schemas.microsoft.com/office/drawing/2014/main" val="531029023"/>
                  </a:ext>
                </a:extLst>
              </a:tr>
            </a:tbl>
          </a:graphicData>
        </a:graphic>
      </p:graphicFrame>
      <p:sp>
        <p:nvSpPr>
          <p:cNvPr id="8" name="Content Placeholder 2">
            <a:extLst>
              <a:ext uri="{FF2B5EF4-FFF2-40B4-BE49-F238E27FC236}">
                <a16:creationId xmlns:a16="http://schemas.microsoft.com/office/drawing/2014/main" id="{EC6C9884-EC6F-595A-DDC7-6937B1D8B2CB}"/>
              </a:ext>
            </a:extLst>
          </p:cNvPr>
          <p:cNvSpPr txBox="1">
            <a:spLocks/>
          </p:cNvSpPr>
          <p:nvPr/>
        </p:nvSpPr>
        <p:spPr>
          <a:xfrm>
            <a:off x="7359091" y="1635430"/>
            <a:ext cx="4477512" cy="4351338"/>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en-US" dirty="0"/>
              <a:t>The TransE model scores how likely a triple is based on patterns in the M&amp;A data</a:t>
            </a:r>
          </a:p>
          <a:p>
            <a:pPr marL="457200" indent="-457200"/>
            <a:r>
              <a:rPr lang="en-US" dirty="0"/>
              <a:t>High scores indicate that the acquisition fits patterns for that firm</a:t>
            </a:r>
          </a:p>
          <a:p>
            <a:pPr marL="457200" indent="-457200"/>
            <a:r>
              <a:rPr lang="en-US" dirty="0"/>
              <a:t>LIME highlights which features contribute most to the prediction</a:t>
            </a:r>
          </a:p>
          <a:p>
            <a:pPr marL="457200" indent="-457200"/>
            <a:r>
              <a:rPr lang="en-US" dirty="0"/>
              <a:t>Can be used to suggest future acquisitions, even for companies not acquired yet</a:t>
            </a:r>
          </a:p>
        </p:txBody>
      </p:sp>
      <p:pic>
        <p:nvPicPr>
          <p:cNvPr id="10" name="Picture 9">
            <a:extLst>
              <a:ext uri="{FF2B5EF4-FFF2-40B4-BE49-F238E27FC236}">
                <a16:creationId xmlns:a16="http://schemas.microsoft.com/office/drawing/2014/main" id="{4FEFA03B-902F-C872-ECF8-718E35132AD9}"/>
              </a:ext>
            </a:extLst>
          </p:cNvPr>
          <p:cNvPicPr>
            <a:picLocks noChangeAspect="1"/>
          </p:cNvPicPr>
          <p:nvPr/>
        </p:nvPicPr>
        <p:blipFill>
          <a:blip r:embed="rId3"/>
          <a:stretch>
            <a:fillRect/>
          </a:stretch>
        </p:blipFill>
        <p:spPr>
          <a:xfrm>
            <a:off x="204217" y="5275105"/>
            <a:ext cx="7344717" cy="1137303"/>
          </a:xfrm>
          <a:prstGeom prst="rect">
            <a:avLst/>
          </a:prstGeom>
        </p:spPr>
      </p:pic>
    </p:spTree>
    <p:extLst>
      <p:ext uri="{BB962C8B-B14F-4D97-AF65-F5344CB8AC3E}">
        <p14:creationId xmlns:p14="http://schemas.microsoft.com/office/powerpoint/2010/main" val="11133945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E1973-3EA6-2FE1-0FB2-14BF82DAF6FE}"/>
              </a:ext>
            </a:extLst>
          </p:cNvPr>
          <p:cNvSpPr>
            <a:spLocks noGrp="1"/>
          </p:cNvSpPr>
          <p:nvPr>
            <p:ph type="title"/>
          </p:nvPr>
        </p:nvSpPr>
        <p:spPr/>
        <p:txBody>
          <a:bodyPr/>
          <a:lstStyle/>
          <a:p>
            <a:pPr algn="ctr"/>
            <a:r>
              <a:rPr lang="en-US" dirty="0"/>
              <a:t>Conclusion</a:t>
            </a:r>
          </a:p>
        </p:txBody>
      </p:sp>
      <p:grpSp>
        <p:nvGrpSpPr>
          <p:cNvPr id="14" name="Group 13">
            <a:extLst>
              <a:ext uri="{FF2B5EF4-FFF2-40B4-BE49-F238E27FC236}">
                <a16:creationId xmlns:a16="http://schemas.microsoft.com/office/drawing/2014/main" id="{BB14DF47-C6BA-1F1D-25D0-7A604D5BD6D9}"/>
              </a:ext>
            </a:extLst>
          </p:cNvPr>
          <p:cNvGrpSpPr/>
          <p:nvPr/>
        </p:nvGrpSpPr>
        <p:grpSpPr>
          <a:xfrm>
            <a:off x="635440" y="1690689"/>
            <a:ext cx="10921120" cy="1898309"/>
            <a:chOff x="599660" y="1579368"/>
            <a:chExt cx="10921120" cy="1898309"/>
          </a:xfrm>
        </p:grpSpPr>
        <p:sp>
          <p:nvSpPr>
            <p:cNvPr id="4" name="Oval 3">
              <a:extLst>
                <a:ext uri="{FF2B5EF4-FFF2-40B4-BE49-F238E27FC236}">
                  <a16:creationId xmlns:a16="http://schemas.microsoft.com/office/drawing/2014/main" id="{1A9138B6-2149-4F7E-096C-2DE639A790D7}"/>
                </a:ext>
              </a:extLst>
            </p:cNvPr>
            <p:cNvSpPr/>
            <p:nvPr/>
          </p:nvSpPr>
          <p:spPr>
            <a:xfrm>
              <a:off x="599660" y="1579369"/>
              <a:ext cx="1881147" cy="10604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u="sng" dirty="0"/>
                <a:t>Knowledge Graph</a:t>
              </a:r>
            </a:p>
          </p:txBody>
        </p:sp>
        <p:sp>
          <p:nvSpPr>
            <p:cNvPr id="7" name="Oval 6">
              <a:extLst>
                <a:ext uri="{FF2B5EF4-FFF2-40B4-BE49-F238E27FC236}">
                  <a16:creationId xmlns:a16="http://schemas.microsoft.com/office/drawing/2014/main" id="{CA30DD27-C23A-FA8E-AD88-B4042387FEFA}"/>
                </a:ext>
              </a:extLst>
            </p:cNvPr>
            <p:cNvSpPr/>
            <p:nvPr/>
          </p:nvSpPr>
          <p:spPr>
            <a:xfrm>
              <a:off x="3540654" y="2417214"/>
              <a:ext cx="1881147" cy="10604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u="sng" dirty="0"/>
                <a:t>Embeddings</a:t>
              </a:r>
            </a:p>
          </p:txBody>
        </p:sp>
        <p:sp>
          <p:nvSpPr>
            <p:cNvPr id="8" name="Oval 7">
              <a:extLst>
                <a:ext uri="{FF2B5EF4-FFF2-40B4-BE49-F238E27FC236}">
                  <a16:creationId xmlns:a16="http://schemas.microsoft.com/office/drawing/2014/main" id="{4D27D78C-B514-4A85-C9F6-A02D3863A397}"/>
                </a:ext>
              </a:extLst>
            </p:cNvPr>
            <p:cNvSpPr/>
            <p:nvPr/>
          </p:nvSpPr>
          <p:spPr>
            <a:xfrm>
              <a:off x="9639633" y="2417213"/>
              <a:ext cx="1881147" cy="10604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u="sng" dirty="0"/>
                <a:t>Lime Explanation</a:t>
              </a:r>
            </a:p>
          </p:txBody>
        </p:sp>
        <p:sp>
          <p:nvSpPr>
            <p:cNvPr id="9" name="Oval 8">
              <a:extLst>
                <a:ext uri="{FF2B5EF4-FFF2-40B4-BE49-F238E27FC236}">
                  <a16:creationId xmlns:a16="http://schemas.microsoft.com/office/drawing/2014/main" id="{2E18430E-EBE6-E92C-8282-E0BD18CEF940}"/>
                </a:ext>
              </a:extLst>
            </p:cNvPr>
            <p:cNvSpPr/>
            <p:nvPr/>
          </p:nvSpPr>
          <p:spPr>
            <a:xfrm>
              <a:off x="6698640" y="1579368"/>
              <a:ext cx="1881147" cy="10604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u="sng" dirty="0"/>
                <a:t>Predictions</a:t>
              </a:r>
            </a:p>
          </p:txBody>
        </p:sp>
        <p:cxnSp>
          <p:nvCxnSpPr>
            <p:cNvPr id="13" name="Straight Arrow Connector 12">
              <a:extLst>
                <a:ext uri="{FF2B5EF4-FFF2-40B4-BE49-F238E27FC236}">
                  <a16:creationId xmlns:a16="http://schemas.microsoft.com/office/drawing/2014/main" id="{D286AD68-6CA7-6687-EA17-0BC576E6AE4C}"/>
                </a:ext>
              </a:extLst>
            </p:cNvPr>
            <p:cNvCxnSpPr>
              <a:cxnSpLocks/>
            </p:cNvCxnSpPr>
            <p:nvPr/>
          </p:nvCxnSpPr>
          <p:spPr>
            <a:xfrm>
              <a:off x="8744475" y="2319835"/>
              <a:ext cx="730470" cy="33559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5" name="Rectangle 14">
            <a:extLst>
              <a:ext uri="{FF2B5EF4-FFF2-40B4-BE49-F238E27FC236}">
                <a16:creationId xmlns:a16="http://schemas.microsoft.com/office/drawing/2014/main" id="{939C0AFD-488C-EB99-E1E5-17C883D1FBDB}"/>
              </a:ext>
            </a:extLst>
          </p:cNvPr>
          <p:cNvSpPr/>
          <p:nvPr/>
        </p:nvSpPr>
        <p:spPr>
          <a:xfrm>
            <a:off x="987618" y="4426844"/>
            <a:ext cx="10216763" cy="10604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Moving Forward/Future Work</a:t>
            </a:r>
          </a:p>
        </p:txBody>
      </p:sp>
      <p:cxnSp>
        <p:nvCxnSpPr>
          <p:cNvPr id="5" name="Straight Arrow Connector 4">
            <a:extLst>
              <a:ext uri="{FF2B5EF4-FFF2-40B4-BE49-F238E27FC236}">
                <a16:creationId xmlns:a16="http://schemas.microsoft.com/office/drawing/2014/main" id="{C9D0EEE6-D52C-6372-2EEC-440E38DEDBDE}"/>
              </a:ext>
            </a:extLst>
          </p:cNvPr>
          <p:cNvCxnSpPr>
            <a:cxnSpLocks/>
          </p:cNvCxnSpPr>
          <p:nvPr/>
        </p:nvCxnSpPr>
        <p:spPr>
          <a:xfrm>
            <a:off x="2681275" y="2431156"/>
            <a:ext cx="730470" cy="33559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 name="Straight Arrow Connector 5">
            <a:extLst>
              <a:ext uri="{FF2B5EF4-FFF2-40B4-BE49-F238E27FC236}">
                <a16:creationId xmlns:a16="http://schemas.microsoft.com/office/drawing/2014/main" id="{3B6C778F-80E6-995B-547B-CB992020A52F}"/>
              </a:ext>
            </a:extLst>
          </p:cNvPr>
          <p:cNvCxnSpPr>
            <a:cxnSpLocks/>
          </p:cNvCxnSpPr>
          <p:nvPr/>
        </p:nvCxnSpPr>
        <p:spPr>
          <a:xfrm flipV="1">
            <a:off x="5730653" y="2476469"/>
            <a:ext cx="730696" cy="41452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7937001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1531</TotalTime>
  <Words>1085</Words>
  <Application>Microsoft Office PowerPoint</Application>
  <PresentationFormat>Widescreen</PresentationFormat>
  <Paragraphs>113</Paragraphs>
  <Slides>5</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Partial Demo: Modeling and Predicting GAFAM M&amp;A Strategy </vt:lpstr>
      <vt:lpstr>Dataset Overview/Knowledge Graph Data</vt:lpstr>
      <vt:lpstr>Learning Company Embeddings</vt:lpstr>
      <vt:lpstr>Predicting Acquisitions and Explaining with Lime</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 Dillon</dc:creator>
  <cp:lastModifiedBy>Alex Dillon</cp:lastModifiedBy>
  <cp:revision>1</cp:revision>
  <dcterms:created xsi:type="dcterms:W3CDTF">2026-03-24T16:39:43Z</dcterms:created>
  <dcterms:modified xsi:type="dcterms:W3CDTF">2026-03-26T15:09:04Z</dcterms:modified>
</cp:coreProperties>
</file>