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86" r:id="rId7"/>
    <p:sldId id="266" r:id="rId8"/>
    <p:sldId id="294" r:id="rId9"/>
    <p:sldId id="288" r:id="rId10"/>
    <p:sldId id="293" r:id="rId11"/>
    <p:sldId id="290" r:id="rId12"/>
    <p:sldId id="291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75AC"/>
    <a:srgbClr val="0C4360"/>
    <a:srgbClr val="1B6872"/>
    <a:srgbClr val="63B7C6"/>
    <a:srgbClr val="002136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2989E-6E9F-4437-8687-C0FDF6DB880A}" v="92" dt="2026-04-24T04:45:40.7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0" autoAdjust="0"/>
    <p:restoredTop sz="92221" autoAdjust="0"/>
  </p:normalViewPr>
  <p:slideViewPr>
    <p:cSldViewPr snapToGrid="0">
      <p:cViewPr>
        <p:scale>
          <a:sx n="70" d="100"/>
          <a:sy n="70" d="100"/>
        </p:scale>
        <p:origin x="1036" y="304"/>
      </p:cViewPr>
      <p:guideLst>
        <p:guide orient="horz" pos="2160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Dillon" userId="2f316d545b74387c" providerId="LiveId" clId="{F4ABB602-C5FA-42B2-A56C-557EA248F6B7}"/>
    <pc:docChg chg="undo custSel addSld delSld modSld sldOrd modShowInfo">
      <pc:chgData name="Alex Dillon" userId="2f316d545b74387c" providerId="LiveId" clId="{F4ABB602-C5FA-42B2-A56C-557EA248F6B7}" dt="2026-04-24T04:44:38.651" v="5084" actId="20577"/>
      <pc:docMkLst>
        <pc:docMk/>
      </pc:docMkLst>
      <pc:sldChg chg="modSp mod modTransition">
        <pc:chgData name="Alex Dillon" userId="2f316d545b74387c" providerId="LiveId" clId="{F4ABB602-C5FA-42B2-A56C-557EA248F6B7}" dt="2026-04-23T21:34:02.498" v="5080" actId="20577"/>
        <pc:sldMkLst>
          <pc:docMk/>
          <pc:sldMk cId="3946934594" sldId="256"/>
        </pc:sldMkLst>
        <pc:spChg chg="mod">
          <ac:chgData name="Alex Dillon" userId="2f316d545b74387c" providerId="LiveId" clId="{F4ABB602-C5FA-42B2-A56C-557EA248F6B7}" dt="2026-04-23T03:47:42.772" v="4894" actId="20577"/>
          <ac:spMkLst>
            <pc:docMk/>
            <pc:sldMk cId="3946934594" sldId="256"/>
            <ac:spMk id="2" creationId="{632BE5BF-9922-45FB-8F3F-4446D40A051B}"/>
          </ac:spMkLst>
        </pc:spChg>
        <pc:spChg chg="mod">
          <ac:chgData name="Alex Dillon" userId="2f316d545b74387c" providerId="LiveId" clId="{F4ABB602-C5FA-42B2-A56C-557EA248F6B7}" dt="2026-04-23T21:34:02.498" v="5080" actId="20577"/>
          <ac:spMkLst>
            <pc:docMk/>
            <pc:sldMk cId="3946934594" sldId="256"/>
            <ac:spMk id="3" creationId="{0D537F64-4C96-4AA8-BB21-E8053A3186DD}"/>
          </ac:spMkLst>
        </pc:spChg>
      </pc:sldChg>
      <pc:sldChg chg="addSp modSp mod modTransition modClrScheme chgLayout modNotesTx">
        <pc:chgData name="Alex Dillon" userId="2f316d545b74387c" providerId="LiveId" clId="{F4ABB602-C5FA-42B2-A56C-557EA248F6B7}" dt="2026-04-23T18:18:12.510" v="5046" actId="20577"/>
        <pc:sldMkLst>
          <pc:docMk/>
          <pc:sldMk cId="3733486012" sldId="258"/>
        </pc:sldMkLst>
        <pc:spChg chg="mod">
          <ac:chgData name="Alex Dillon" userId="2f316d545b74387c" providerId="LiveId" clId="{F4ABB602-C5FA-42B2-A56C-557EA248F6B7}" dt="2026-04-20T04:39:47.310" v="695" actId="26606"/>
          <ac:spMkLst>
            <pc:docMk/>
            <pc:sldMk cId="3733486012" sldId="258"/>
            <ac:spMk id="2" creationId="{BE9800F6-D571-48C4-8466-12AA1ADB6599}"/>
          </ac:spMkLst>
        </pc:spChg>
        <pc:spChg chg="mod">
          <ac:chgData name="Alex Dillon" userId="2f316d545b74387c" providerId="LiveId" clId="{F4ABB602-C5FA-42B2-A56C-557EA248F6B7}" dt="2026-04-20T04:39:47.310" v="695" actId="26606"/>
          <ac:spMkLst>
            <pc:docMk/>
            <pc:sldMk cId="3733486012" sldId="258"/>
            <ac:spMk id="7" creationId="{7875C19A-1AAE-476A-A316-A2CF92D763D3}"/>
          </ac:spMkLst>
        </pc:spChg>
        <pc:spChg chg="mod ord">
          <ac:chgData name="Alex Dillon" userId="2f316d545b74387c" providerId="LiveId" clId="{F4ABB602-C5FA-42B2-A56C-557EA248F6B7}" dt="2026-04-23T18:18:06.383" v="5027" actId="20577"/>
          <ac:spMkLst>
            <pc:docMk/>
            <pc:sldMk cId="3733486012" sldId="258"/>
            <ac:spMk id="10" creationId="{EF2BC084-E6DB-4DE7-B309-042A85EBA700}"/>
          </ac:spMkLst>
        </pc:spChg>
        <pc:picChg chg="add mod">
          <ac:chgData name="Alex Dillon" userId="2f316d545b74387c" providerId="LiveId" clId="{F4ABB602-C5FA-42B2-A56C-557EA248F6B7}" dt="2026-04-20T04:39:55.642" v="697" actId="14100"/>
          <ac:picMkLst>
            <pc:docMk/>
            <pc:sldMk cId="3733486012" sldId="258"/>
            <ac:picMk id="4" creationId="{9ADC6650-9EB5-86C3-511E-4AF881BCBDAB}"/>
          </ac:picMkLst>
        </pc:picChg>
      </pc:sldChg>
      <pc:sldChg chg="addSp delSp modSp mod modTransition modNotesTx">
        <pc:chgData name="Alex Dillon" userId="2f316d545b74387c" providerId="LiveId" clId="{F4ABB602-C5FA-42B2-A56C-557EA248F6B7}" dt="2026-04-23T15:09:46.128" v="5003" actId="20577"/>
        <pc:sldMkLst>
          <pc:docMk/>
          <pc:sldMk cId="1065425595" sldId="266"/>
        </pc:sldMkLst>
        <pc:spChg chg="add mod">
          <ac:chgData name="Alex Dillon" userId="2f316d545b74387c" providerId="LiveId" clId="{F4ABB602-C5FA-42B2-A56C-557EA248F6B7}" dt="2026-04-22T00:44:27.514" v="2980" actId="1076"/>
          <ac:spMkLst>
            <pc:docMk/>
            <pc:sldMk cId="1065425595" sldId="266"/>
            <ac:spMk id="4" creationId="{574F9E9E-45E9-53B5-C482-04D182BA415E}"/>
          </ac:spMkLst>
        </pc:spChg>
        <pc:spChg chg="mod">
          <ac:chgData name="Alex Dillon" userId="2f316d545b74387c" providerId="LiveId" clId="{F4ABB602-C5FA-42B2-A56C-557EA248F6B7}" dt="2026-04-20T16:07:31.316" v="755" actId="20577"/>
          <ac:spMkLst>
            <pc:docMk/>
            <pc:sldMk cId="1065425595" sldId="266"/>
            <ac:spMk id="5" creationId="{201323FB-427E-4A8D-B473-AB0657D8D23B}"/>
          </ac:spMkLst>
        </pc:spChg>
      </pc:sldChg>
      <pc:sldChg chg="modTransition">
        <pc:chgData name="Alex Dillon" userId="2f316d545b74387c" providerId="LiveId" clId="{F4ABB602-C5FA-42B2-A56C-557EA248F6B7}" dt="2026-04-22T03:59:09.025" v="4658"/>
        <pc:sldMkLst>
          <pc:docMk/>
          <pc:sldMk cId="429771863" sldId="269"/>
        </pc:sldMkLst>
      </pc:sldChg>
      <pc:sldChg chg="addSp delSp modSp mod modClrScheme chgLayout modNotesTx">
        <pc:chgData name="Alex Dillon" userId="2f316d545b74387c" providerId="LiveId" clId="{F4ABB602-C5FA-42B2-A56C-557EA248F6B7}" dt="2026-04-24T04:43:40.132" v="5081" actId="20577"/>
        <pc:sldMkLst>
          <pc:docMk/>
          <pc:sldMk cId="991935679" sldId="286"/>
        </pc:sldMkLst>
        <pc:spChg chg="mod">
          <ac:chgData name="Alex Dillon" userId="2f316d545b74387c" providerId="LiveId" clId="{F4ABB602-C5FA-42B2-A56C-557EA248F6B7}" dt="2026-04-21T16:54:57.494" v="2913" actId="26606"/>
          <ac:spMkLst>
            <pc:docMk/>
            <pc:sldMk cId="991935679" sldId="286"/>
            <ac:spMk id="3" creationId="{47C53B68-CC82-B8E8-3097-97A8B8F6FB57}"/>
          </ac:spMkLst>
        </pc:spChg>
        <pc:spChg chg="mod">
          <ac:chgData name="Alex Dillon" userId="2f316d545b74387c" providerId="LiveId" clId="{F4ABB602-C5FA-42B2-A56C-557EA248F6B7}" dt="2026-04-21T16:56:01.964" v="2925" actId="1076"/>
          <ac:spMkLst>
            <pc:docMk/>
            <pc:sldMk cId="991935679" sldId="286"/>
            <ac:spMk id="4" creationId="{DADC76CF-CB21-0349-550F-A32056E4A41E}"/>
          </ac:spMkLst>
        </pc:spChg>
        <pc:spChg chg="add mod">
          <ac:chgData name="Alex Dillon" userId="2f316d545b74387c" providerId="LiveId" clId="{F4ABB602-C5FA-42B2-A56C-557EA248F6B7}" dt="2026-04-21T16:55:24.151" v="2920" actId="113"/>
          <ac:spMkLst>
            <pc:docMk/>
            <pc:sldMk cId="991935679" sldId="286"/>
            <ac:spMk id="9" creationId="{CC75EAED-49A4-3D62-9728-182388902942}"/>
          </ac:spMkLst>
        </pc:spChg>
      </pc:sldChg>
      <pc:sldChg chg="addSp modSp mod modClrScheme chgLayout modNotesTx">
        <pc:chgData name="Alex Dillon" userId="2f316d545b74387c" providerId="LiveId" clId="{F4ABB602-C5FA-42B2-A56C-557EA248F6B7}" dt="2026-04-24T04:44:38.651" v="5084" actId="20577"/>
        <pc:sldMkLst>
          <pc:docMk/>
          <pc:sldMk cId="1204038895" sldId="288"/>
        </pc:sldMkLst>
        <pc:spChg chg="mod">
          <ac:chgData name="Alex Dillon" userId="2f316d545b74387c" providerId="LiveId" clId="{F4ABB602-C5FA-42B2-A56C-557EA248F6B7}" dt="2026-04-20T16:52:43.624" v="1454" actId="26606"/>
          <ac:spMkLst>
            <pc:docMk/>
            <pc:sldMk cId="1204038895" sldId="288"/>
            <ac:spMk id="2" creationId="{37C05205-5F72-0548-79B7-4320FD236108}"/>
          </ac:spMkLst>
        </pc:spChg>
        <pc:spChg chg="mod">
          <ac:chgData name="Alex Dillon" userId="2f316d545b74387c" providerId="LiveId" clId="{F4ABB602-C5FA-42B2-A56C-557EA248F6B7}" dt="2026-04-20T16:52:43.624" v="1454" actId="26606"/>
          <ac:spMkLst>
            <pc:docMk/>
            <pc:sldMk cId="1204038895" sldId="288"/>
            <ac:spMk id="3" creationId="{11377546-CF3F-7514-5FE3-F2BAADF29FFD}"/>
          </ac:spMkLst>
        </pc:spChg>
        <pc:spChg chg="mod">
          <ac:chgData name="Alex Dillon" userId="2f316d545b74387c" providerId="LiveId" clId="{F4ABB602-C5FA-42B2-A56C-557EA248F6B7}" dt="2026-04-22T00:46:02.199" v="2982" actId="20577"/>
          <ac:spMkLst>
            <pc:docMk/>
            <pc:sldMk cId="1204038895" sldId="288"/>
            <ac:spMk id="4" creationId="{C1B3982E-2119-295E-2B61-C4B01E51EEB8}"/>
          </ac:spMkLst>
        </pc:spChg>
        <pc:spChg chg="add mod">
          <ac:chgData name="Alex Dillon" userId="2f316d545b74387c" providerId="LiveId" clId="{F4ABB602-C5FA-42B2-A56C-557EA248F6B7}" dt="2026-04-20T16:53:53.272" v="1492" actId="1076"/>
          <ac:spMkLst>
            <pc:docMk/>
            <pc:sldMk cId="1204038895" sldId="288"/>
            <ac:spMk id="8" creationId="{84B8825B-1527-E4BD-C426-937C7F7CB049}"/>
          </ac:spMkLst>
        </pc:spChg>
        <pc:picChg chg="add mod">
          <ac:chgData name="Alex Dillon" userId="2f316d545b74387c" providerId="LiveId" clId="{F4ABB602-C5FA-42B2-A56C-557EA248F6B7}" dt="2026-04-20T16:53:17.952" v="1461" actId="1076"/>
          <ac:picMkLst>
            <pc:docMk/>
            <pc:sldMk cId="1204038895" sldId="288"/>
            <ac:picMk id="7" creationId="{D025FA23-B1AB-AB50-9090-2AD088C5BD01}"/>
          </ac:picMkLst>
        </pc:picChg>
      </pc:sldChg>
      <pc:sldChg chg="addSp delSp modSp mod modClrScheme chgLayout modNotesTx">
        <pc:chgData name="Alex Dillon" userId="2f316d545b74387c" providerId="LiveId" clId="{F4ABB602-C5FA-42B2-A56C-557EA248F6B7}" dt="2026-04-23T20:52:44.366" v="5062" actId="20577"/>
        <pc:sldMkLst>
          <pc:docMk/>
          <pc:sldMk cId="888938309" sldId="290"/>
        </pc:sldMkLst>
        <pc:spChg chg="mod">
          <ac:chgData name="Alex Dillon" userId="2f316d545b74387c" providerId="LiveId" clId="{F4ABB602-C5FA-42B2-A56C-557EA248F6B7}" dt="2026-04-21T03:30:02.848" v="1906" actId="26606"/>
          <ac:spMkLst>
            <pc:docMk/>
            <pc:sldMk cId="888938309" sldId="290"/>
            <ac:spMk id="2" creationId="{A7CB34FA-E352-E0E8-0E1C-55AA79038C93}"/>
          </ac:spMkLst>
        </pc:spChg>
        <pc:spChg chg="mod">
          <ac:chgData name="Alex Dillon" userId="2f316d545b74387c" providerId="LiveId" clId="{F4ABB602-C5FA-42B2-A56C-557EA248F6B7}" dt="2026-04-21T14:26:24.928" v="2522" actId="1076"/>
          <ac:spMkLst>
            <pc:docMk/>
            <pc:sldMk cId="888938309" sldId="290"/>
            <ac:spMk id="3" creationId="{52E5CEB2-3EF9-2184-B253-8C70C606B75B}"/>
          </ac:spMkLst>
        </pc:spChg>
        <pc:spChg chg="mod">
          <ac:chgData name="Alex Dillon" userId="2f316d545b74387c" providerId="LiveId" clId="{F4ABB602-C5FA-42B2-A56C-557EA248F6B7}" dt="2026-04-21T03:30:44.698" v="1916" actId="14100"/>
          <ac:spMkLst>
            <pc:docMk/>
            <pc:sldMk cId="888938309" sldId="290"/>
            <ac:spMk id="4" creationId="{73CF70C1-9CDD-ECE2-59F8-0EE8B8C48EBD}"/>
          </ac:spMkLst>
        </pc:spChg>
        <pc:spChg chg="add mod">
          <ac:chgData name="Alex Dillon" userId="2f316d545b74387c" providerId="LiveId" clId="{F4ABB602-C5FA-42B2-A56C-557EA248F6B7}" dt="2026-04-21T14:27:59.343" v="2531" actId="1076"/>
          <ac:spMkLst>
            <pc:docMk/>
            <pc:sldMk cId="888938309" sldId="290"/>
            <ac:spMk id="6" creationId="{A00E503F-5BCA-784D-CDE1-0F999C824437}"/>
          </ac:spMkLst>
        </pc:spChg>
        <pc:spChg chg="add mod">
          <ac:chgData name="Alex Dillon" userId="2f316d545b74387c" providerId="LiveId" clId="{F4ABB602-C5FA-42B2-A56C-557EA248F6B7}" dt="2026-04-21T14:27:35.870" v="2530" actId="14100"/>
          <ac:spMkLst>
            <pc:docMk/>
            <pc:sldMk cId="888938309" sldId="290"/>
            <ac:spMk id="13" creationId="{CB07FF80-1209-6B02-B758-C7345E12856D}"/>
          </ac:spMkLst>
        </pc:spChg>
        <pc:graphicFrameChg chg="add mod modGraphic">
          <ac:chgData name="Alex Dillon" userId="2f316d545b74387c" providerId="LiveId" clId="{F4ABB602-C5FA-42B2-A56C-557EA248F6B7}" dt="2026-04-21T03:42:30.139" v="2057" actId="6549"/>
          <ac:graphicFrameMkLst>
            <pc:docMk/>
            <pc:sldMk cId="888938309" sldId="290"/>
            <ac:graphicFrameMk id="8" creationId="{57487624-C1D5-3157-7085-ABD09967B10D}"/>
          </ac:graphicFrameMkLst>
        </pc:graphicFrameChg>
        <pc:picChg chg="add mod">
          <ac:chgData name="Alex Dillon" userId="2f316d545b74387c" providerId="LiveId" clId="{F4ABB602-C5FA-42B2-A56C-557EA248F6B7}" dt="2026-04-21T14:27:11.534" v="2528" actId="1076"/>
          <ac:picMkLst>
            <pc:docMk/>
            <pc:sldMk cId="888938309" sldId="290"/>
            <ac:picMk id="10" creationId="{F9672909-C01A-024C-2D59-7616C764CD9E}"/>
          </ac:picMkLst>
        </pc:picChg>
        <pc:picChg chg="add mod">
          <ac:chgData name="Alex Dillon" userId="2f316d545b74387c" providerId="LiveId" clId="{F4ABB602-C5FA-42B2-A56C-557EA248F6B7}" dt="2026-04-21T14:28:54.884" v="2532" actId="1076"/>
          <ac:picMkLst>
            <pc:docMk/>
            <pc:sldMk cId="888938309" sldId="290"/>
            <ac:picMk id="12" creationId="{A9752A5E-6350-C9CF-E26E-636577302386}"/>
          </ac:picMkLst>
        </pc:picChg>
      </pc:sldChg>
      <pc:sldChg chg="addSp delSp modSp mod ord modNotesTx">
        <pc:chgData name="Alex Dillon" userId="2f316d545b74387c" providerId="LiveId" clId="{F4ABB602-C5FA-42B2-A56C-557EA248F6B7}" dt="2026-04-23T21:30:52.015" v="5069"/>
        <pc:sldMkLst>
          <pc:docMk/>
          <pc:sldMk cId="3894870574" sldId="291"/>
        </pc:sldMkLst>
        <pc:spChg chg="mod">
          <ac:chgData name="Alex Dillon" userId="2f316d545b74387c" providerId="LiveId" clId="{F4ABB602-C5FA-42B2-A56C-557EA248F6B7}" dt="2026-04-22T15:42:45.149" v="4849" actId="20577"/>
          <ac:spMkLst>
            <pc:docMk/>
            <pc:sldMk cId="3894870574" sldId="291"/>
            <ac:spMk id="4" creationId="{024AA4FF-FFEB-C567-7106-8C84D174812E}"/>
          </ac:spMkLst>
        </pc:spChg>
        <pc:picChg chg="add mod ord">
          <ac:chgData name="Alex Dillon" userId="2f316d545b74387c" providerId="LiveId" clId="{F4ABB602-C5FA-42B2-A56C-557EA248F6B7}" dt="2026-04-22T16:17:26.951" v="4878" actId="1076"/>
          <ac:picMkLst>
            <pc:docMk/>
            <pc:sldMk cId="3894870574" sldId="291"/>
            <ac:picMk id="8" creationId="{382EF8BF-8445-0AAC-1C4E-88EB92011956}"/>
          </ac:picMkLst>
        </pc:picChg>
      </pc:sldChg>
      <pc:sldChg chg="addSp delSp modSp mod modTransition modNotesTx">
        <pc:chgData name="Alex Dillon" userId="2f316d545b74387c" providerId="LiveId" clId="{F4ABB602-C5FA-42B2-A56C-557EA248F6B7}" dt="2026-04-23T14:40:46.813" v="4910" actId="20577"/>
        <pc:sldMkLst>
          <pc:docMk/>
          <pc:sldMk cId="2158915196" sldId="293"/>
        </pc:sldMkLst>
        <pc:spChg chg="add mod">
          <ac:chgData name="Alex Dillon" userId="2f316d545b74387c" providerId="LiveId" clId="{F4ABB602-C5FA-42B2-A56C-557EA248F6B7}" dt="2026-04-22T00:47:15.964" v="2983" actId="20577"/>
          <ac:spMkLst>
            <pc:docMk/>
            <pc:sldMk cId="2158915196" sldId="293"/>
            <ac:spMk id="7" creationId="{C1B10750-45EB-B694-5E12-95435AFE465F}"/>
          </ac:spMkLst>
        </pc:spChg>
        <pc:graphicFrameChg chg="mod modGraphic">
          <ac:chgData name="Alex Dillon" userId="2f316d545b74387c" providerId="LiveId" clId="{F4ABB602-C5FA-42B2-A56C-557EA248F6B7}" dt="2026-04-20T17:01:03.883" v="1521" actId="1076"/>
          <ac:graphicFrameMkLst>
            <pc:docMk/>
            <pc:sldMk cId="2158915196" sldId="293"/>
            <ac:graphicFrameMk id="6" creationId="{B716D451-5C25-7B87-0258-5EDD0B8CE5CA}"/>
          </ac:graphicFrameMkLst>
        </pc:graphicFrameChg>
      </pc:sldChg>
      <pc:sldChg chg="addSp modSp new mod modNotesTx">
        <pc:chgData name="Alex Dillon" userId="2f316d545b74387c" providerId="LiveId" clId="{F4ABB602-C5FA-42B2-A56C-557EA248F6B7}" dt="2026-04-22T01:16:09.501" v="3883" actId="20577"/>
        <pc:sldMkLst>
          <pc:docMk/>
          <pc:sldMk cId="2720515838" sldId="294"/>
        </pc:sldMkLst>
        <pc:spChg chg="mod">
          <ac:chgData name="Alex Dillon" userId="2f316d545b74387c" providerId="LiveId" clId="{F4ABB602-C5FA-42B2-A56C-557EA248F6B7}" dt="2026-04-20T16:05:57.834" v="736" actId="1076"/>
          <ac:spMkLst>
            <pc:docMk/>
            <pc:sldMk cId="2720515838" sldId="294"/>
            <ac:spMk id="2" creationId="{5E46BC8D-0A64-E9C3-2D6D-0CECB321C442}"/>
          </ac:spMkLst>
        </pc:spChg>
        <pc:spChg chg="add mod">
          <ac:chgData name="Alex Dillon" userId="2f316d545b74387c" providerId="LiveId" clId="{F4ABB602-C5FA-42B2-A56C-557EA248F6B7}" dt="2026-04-21T23:41:02.311" v="2962" actId="20577"/>
          <ac:spMkLst>
            <pc:docMk/>
            <pc:sldMk cId="2720515838" sldId="294"/>
            <ac:spMk id="8" creationId="{A62B3CC7-6210-530D-48EA-26EA1E7FFD6F}"/>
          </ac:spMkLst>
        </pc:spChg>
        <pc:spChg chg="add mod">
          <ac:chgData name="Alex Dillon" userId="2f316d545b74387c" providerId="LiveId" clId="{F4ABB602-C5FA-42B2-A56C-557EA248F6B7}" dt="2026-04-21T23:41:21.257" v="2977" actId="20577"/>
          <ac:spMkLst>
            <pc:docMk/>
            <pc:sldMk cId="2720515838" sldId="294"/>
            <ac:spMk id="9" creationId="{67DC07EE-F1F2-ECEE-35C2-57B6DC88E56E}"/>
          </ac:spMkLst>
        </pc:spChg>
        <pc:picChg chg="add mod">
          <ac:chgData name="Alex Dillon" userId="2f316d545b74387c" providerId="LiveId" clId="{F4ABB602-C5FA-42B2-A56C-557EA248F6B7}" dt="2026-04-21T23:40:26.674" v="2943" actId="1076"/>
          <ac:picMkLst>
            <pc:docMk/>
            <pc:sldMk cId="2720515838" sldId="294"/>
            <ac:picMk id="5" creationId="{7DAB5870-49BB-1B09-507E-7F8DA02C38D7}"/>
          </ac:picMkLst>
        </pc:picChg>
        <pc:picChg chg="add mod">
          <ac:chgData name="Alex Dillon" userId="2f316d545b74387c" providerId="LiveId" clId="{F4ABB602-C5FA-42B2-A56C-557EA248F6B7}" dt="2026-04-21T23:40:07.111" v="2938" actId="1076"/>
          <ac:picMkLst>
            <pc:docMk/>
            <pc:sldMk cId="2720515838" sldId="294"/>
            <ac:picMk id="7" creationId="{00A2EA9B-A547-84C5-5F1B-C10BE6960EA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2511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23043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3988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7876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070032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41CA-173C-D7EF-FF3D-EBE4EED8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57B30-A6A2-D15B-79E0-AAB743E75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2C3F0-4913-27F3-034D-DE044ECCCE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2D658-F2AE-EB38-9647-939B7A57DA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54906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8051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34D747-9380-41EE-9946-EC9EC0CA5D1E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3823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37687" y="3167253"/>
            <a:ext cx="8697087" cy="1243584"/>
          </a:xfrm>
        </p:spPr>
        <p:txBody>
          <a:bodyPr/>
          <a:lstStyle/>
          <a:p>
            <a:pPr algn="ctr"/>
            <a:r>
              <a:rPr lang="en-US" sz="4000" dirty="0"/>
              <a:t>Modeling AI Industry Structure Using Knowledge Graph Embeddings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47502" y="4683633"/>
            <a:ext cx="7077456" cy="86868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Alex Dillon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Introduction &amp; Problem Statement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4460" y="1800776"/>
            <a:ext cx="5184437" cy="3909050"/>
          </a:xfrm>
        </p:spPr>
        <p:txBody>
          <a:bodyPr>
            <a:normAutofit/>
          </a:bodyPr>
          <a:lstStyle/>
          <a:p>
            <a:r>
              <a:rPr lang="en-US" sz="1800" dirty="0"/>
              <a:t>Mergers and acquisitions are central in shaping the technology industry</a:t>
            </a:r>
          </a:p>
          <a:p>
            <a:r>
              <a:rPr lang="en-US" sz="1800" dirty="0"/>
              <a:t>Large tech firms are increasingly acquiring AI startups to expand their capabilities and strengthen control over the industry</a:t>
            </a:r>
          </a:p>
          <a:p>
            <a:r>
              <a:rPr lang="en-US" sz="1800" dirty="0"/>
              <a:t>These deals change how firms are connected and how the industry is structured</a:t>
            </a:r>
          </a:p>
          <a:p>
            <a:r>
              <a:rPr lang="en-US" sz="1800" dirty="0"/>
              <a:t>M&amp;A impacts occur across several number firms, not just individual transactions</a:t>
            </a:r>
          </a:p>
          <a:p>
            <a:r>
              <a:rPr lang="en-US" sz="1800" b="1" dirty="0"/>
              <a:t>Problem Statement: </a:t>
            </a:r>
            <a:r>
              <a:rPr lang="en-US" sz="1800" dirty="0"/>
              <a:t>How does M&amp;A activity reshape the structure of relationships among major technology firms in the AI industry?</a:t>
            </a:r>
            <a:endParaRPr lang="en-US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DC6650-9EB5-86C3-511E-4AF881BCB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601" y="1425677"/>
            <a:ext cx="6448788" cy="46592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53B68-CC82-B8E8-3097-97A8B8F6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3</a:t>
            </a:fld>
            <a:endParaRPr lang="en-US" noProof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C75EAED-49A4-3D62-9728-182388902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b="1" dirty="0"/>
              <a:t>Existing Literature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DC76CF-CB21-0349-550F-A32056E4A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796057"/>
            <a:ext cx="7694310" cy="3876262"/>
          </a:xfrm>
          <a:ln w="38100"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sz="2200" dirty="0"/>
              <a:t>M&amp;A in the technology market shows mixed effects on innovation and competition (Barnett; Ederer et al.; Fang et al.)</a:t>
            </a:r>
          </a:p>
          <a:p>
            <a:r>
              <a:rPr lang="en-US" sz="2200" dirty="0"/>
              <a:t>Big tech acquisitions often either discontinue or integrate startup products (Gautier &amp; Maitry; Ederer et al.)</a:t>
            </a:r>
          </a:p>
          <a:p>
            <a:r>
              <a:rPr lang="en-US" sz="2200" dirty="0"/>
              <a:t>Acquihires increasingly prioritize talent over products, reshaping startup innovation and strengthening acquirer capabilities (Seitz &amp; Lehmann; Choi; Benkert et al.)</a:t>
            </a:r>
          </a:p>
          <a:p>
            <a:r>
              <a:rPr lang="en-US" sz="2200" dirty="0"/>
              <a:t>Prior work focuses on firm-level acquisition outcomes, while this project models M&amp;A as a network using embeddings and similarity measures</a:t>
            </a:r>
          </a:p>
        </p:txBody>
      </p:sp>
    </p:spTree>
    <p:extLst>
      <p:ext uri="{BB962C8B-B14F-4D97-AF65-F5344CB8AC3E}">
        <p14:creationId xmlns:p14="http://schemas.microsoft.com/office/powerpoint/2010/main" val="991935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01323FB-427E-4A8D-B473-AB0657D8D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 &amp; Construction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EEB296-8554-4D20-B3B8-C0BBC380A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6204"/>
              </p:ext>
            </p:extLst>
          </p:nvPr>
        </p:nvGraphicFramePr>
        <p:xfrm>
          <a:off x="444500" y="1463040"/>
          <a:ext cx="6334126" cy="4584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739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2619185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1514285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  <a:gridCol w="1117917">
                  <a:extLst>
                    <a:ext uri="{9D8B030D-6E8A-4147-A177-3AD203B41FA5}">
                      <a16:colId xmlns:a16="http://schemas.microsoft.com/office/drawing/2014/main" val="4160613981"/>
                    </a:ext>
                  </a:extLst>
                </a:gridCol>
              </a:tblGrid>
              <a:tr h="583477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+mn-lt"/>
                          <a:cs typeface="Arial" panose="020B0604020202020204" pitchFamily="34" charset="0"/>
                        </a:rPr>
                        <a:t>Subject</a:t>
                      </a:r>
                      <a:endParaRPr lang="en-GB"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+mn-lt"/>
                          <a:cs typeface="Arial" panose="020B0604020202020204" pitchFamily="34" charset="0"/>
                        </a:rPr>
                        <a:t>Predicate</a:t>
                      </a:r>
                      <a:endParaRPr lang="en-GB"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+mn-lt"/>
                          <a:cs typeface="Arial" panose="020B0604020202020204" pitchFamily="34" charset="0"/>
                        </a:rPr>
                        <a:t>Object</a:t>
                      </a:r>
                      <a:endParaRPr lang="en-GB"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atin typeface="+mn-lt"/>
                          <a:cs typeface="Arial" panose="020B0604020202020204" pitchFamily="34" charset="0"/>
                        </a:rPr>
                        <a:t>Date</a:t>
                      </a:r>
                      <a:endParaRPr lang="en-GB" sz="18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META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ACQUIRES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29/12/2025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IS_A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DEAL_VALUE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2,000,000,000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84641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DEAL_VALUE_CAT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35587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AMOUNT_RAISED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85,000,000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6909641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AMOUNT_RAISED_CAT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044516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NUM_OF_EMPLOYEES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3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58240"/>
                  </a:ext>
                </a:extLst>
              </a:tr>
              <a:tr h="50012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MANUS AI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NUM_OF_EMPLOYEES_CAT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038035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398C1C-6656-4A73-A680-62A81CDC2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4F9E9E-45E9-53B5-C482-04D182BA415E}"/>
              </a:ext>
            </a:extLst>
          </p:cNvPr>
          <p:cNvSpPr txBox="1"/>
          <p:nvPr/>
        </p:nvSpPr>
        <p:spPr>
          <a:xfrm>
            <a:off x="7077623" y="1695416"/>
            <a:ext cx="4827638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bg1"/>
                </a:solidFill>
              </a:rPr>
              <a:t>Bin Definitions</a:t>
            </a:r>
          </a:p>
          <a:p>
            <a:r>
              <a:rPr lang="en-US" u="sng" dirty="0">
                <a:solidFill>
                  <a:schemeClr val="bg1"/>
                </a:solidFill>
              </a:rPr>
              <a:t>Deal Value: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Small: ≤ $150,000,000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Medium: $163,000,000 – $1,000,000,000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Large: ≥ $1,300,000,000</a:t>
            </a:r>
          </a:p>
          <a:p>
            <a:r>
              <a:rPr lang="en-US" u="sng" dirty="0">
                <a:solidFill>
                  <a:schemeClr val="bg1"/>
                </a:solidFill>
              </a:rPr>
              <a:t>Amount Raised: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Small: ≤ 9,850,000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Medium: 10,080,000 – 32,850,000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Large: ≥ 39,090,000</a:t>
            </a:r>
          </a:p>
          <a:p>
            <a:r>
              <a:rPr lang="en-US" u="sng" dirty="0">
                <a:solidFill>
                  <a:schemeClr val="bg1"/>
                </a:solidFill>
              </a:rPr>
              <a:t>Number of Employees: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Small: ≤ 26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Medium: 27 – 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Large: ≥ 62</a:t>
            </a:r>
          </a:p>
        </p:txBody>
      </p:sp>
    </p:spTree>
    <p:extLst>
      <p:ext uri="{BB962C8B-B14F-4D97-AF65-F5344CB8AC3E}">
        <p14:creationId xmlns:p14="http://schemas.microsoft.com/office/powerpoint/2010/main" val="1065425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BC8D-0A64-E9C3-2D6D-0CECB321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552865"/>
            <a:ext cx="11214100" cy="535531"/>
          </a:xfrm>
        </p:spPr>
        <p:txBody>
          <a:bodyPr/>
          <a:lstStyle/>
          <a:p>
            <a:r>
              <a:rPr lang="en-US" dirty="0"/>
              <a:t>Modeling M&amp;A as a Knowledge Graph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2CE168-F707-8EF4-B6B4-B586868BE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AB5870-49BB-1B09-507E-7F8DA02C3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75" y="1349885"/>
            <a:ext cx="5311164" cy="42160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A2EA9B-A547-84C5-5F1B-C10BE6960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766" y="1369728"/>
            <a:ext cx="5240259" cy="41961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2B3CC7-6210-530D-48EA-26EA1E7FFD6F}"/>
              </a:ext>
            </a:extLst>
          </p:cNvPr>
          <p:cNvSpPr txBox="1"/>
          <p:nvPr/>
        </p:nvSpPr>
        <p:spPr>
          <a:xfrm>
            <a:off x="918525" y="5618644"/>
            <a:ext cx="412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AI Category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DC07EE-F1F2-ECEE-35C2-57B6DC88E56E}"/>
              </a:ext>
            </a:extLst>
          </p:cNvPr>
          <p:cNvSpPr txBox="1"/>
          <p:nvPr/>
        </p:nvSpPr>
        <p:spPr>
          <a:xfrm>
            <a:off x="7184187" y="5618644"/>
            <a:ext cx="412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Amount Raised</a:t>
            </a:r>
          </a:p>
        </p:txBody>
      </p:sp>
    </p:spTree>
    <p:extLst>
      <p:ext uri="{BB962C8B-B14F-4D97-AF65-F5344CB8AC3E}">
        <p14:creationId xmlns:p14="http://schemas.microsoft.com/office/powerpoint/2010/main" val="2720515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05205-5F72-0548-79B7-4320FD23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377546-CF3F-7514-5FE3-F2BAADF29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6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3982E-2119-295E-2B61-C4B01E51E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4278" y="1835767"/>
            <a:ext cx="5184437" cy="3849415"/>
          </a:xfrm>
        </p:spPr>
        <p:txBody>
          <a:bodyPr>
            <a:normAutofit/>
          </a:bodyPr>
          <a:lstStyle/>
          <a:p>
            <a:r>
              <a:rPr lang="en-US" dirty="0"/>
              <a:t>Node2Vec learns structural embeddings from the acquisition network</a:t>
            </a:r>
          </a:p>
          <a:p>
            <a:r>
              <a:rPr lang="en-US" dirty="0"/>
              <a:t>Cosine similarity compares firms in the embedding space</a:t>
            </a:r>
          </a:p>
          <a:p>
            <a:r>
              <a:rPr lang="en-US" dirty="0"/>
              <a:t>TransE was explored as a knowledge graph embedding approach for acquisition relationships</a:t>
            </a:r>
          </a:p>
          <a:p>
            <a:r>
              <a:rPr lang="en-US" dirty="0"/>
              <a:t>Focus of analysis centered on Node2Vec-based embeddings </a:t>
            </a:r>
          </a:p>
          <a:p>
            <a:pPr lvl="1"/>
            <a:r>
              <a:rPr lang="en-US" sz="2000" dirty="0"/>
              <a:t>Better captures global network structure of firms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25FA23-B1AB-AB50-9090-2AD088C5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4817" y="2560803"/>
            <a:ext cx="6232055" cy="2399341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B8825B-1527-E4BD-C426-937C7F7CB049}"/>
              </a:ext>
            </a:extLst>
          </p:cNvPr>
          <p:cNvSpPr txBox="1"/>
          <p:nvPr/>
        </p:nvSpPr>
        <p:spPr>
          <a:xfrm>
            <a:off x="6723931" y="1835767"/>
            <a:ext cx="4273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Node2Vec Embedding Process</a:t>
            </a:r>
          </a:p>
        </p:txBody>
      </p:sp>
    </p:spTree>
    <p:extLst>
      <p:ext uri="{BB962C8B-B14F-4D97-AF65-F5344CB8AC3E}">
        <p14:creationId xmlns:p14="http://schemas.microsoft.com/office/powerpoint/2010/main" val="1204038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B4AC6-5AE7-03E3-070A-D07312260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F917F6-CD53-5841-C6D9-384E98C5A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Results/Discussion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716D451-5C25-7B87-0258-5EDD0B8CE5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028128"/>
              </p:ext>
            </p:extLst>
          </p:nvPr>
        </p:nvGraphicFramePr>
        <p:xfrm>
          <a:off x="444500" y="1552491"/>
          <a:ext cx="11214099" cy="26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5573">
                  <a:extLst>
                    <a:ext uri="{9D8B030D-6E8A-4147-A177-3AD203B41FA5}">
                      <a16:colId xmlns:a16="http://schemas.microsoft.com/office/drawing/2014/main" val="3559833401"/>
                    </a:ext>
                  </a:extLst>
                </a:gridCol>
                <a:gridCol w="3956288">
                  <a:extLst>
                    <a:ext uri="{9D8B030D-6E8A-4147-A177-3AD203B41FA5}">
                      <a16:colId xmlns:a16="http://schemas.microsoft.com/office/drawing/2014/main" val="82523989"/>
                    </a:ext>
                  </a:extLst>
                </a:gridCol>
                <a:gridCol w="1506573">
                  <a:extLst>
                    <a:ext uri="{9D8B030D-6E8A-4147-A177-3AD203B41FA5}">
                      <a16:colId xmlns:a16="http://schemas.microsoft.com/office/drawing/2014/main" val="3211310719"/>
                    </a:ext>
                  </a:extLst>
                </a:gridCol>
                <a:gridCol w="3925665">
                  <a:extLst>
                    <a:ext uri="{9D8B030D-6E8A-4147-A177-3AD203B41FA5}">
                      <a16:colId xmlns:a16="http://schemas.microsoft.com/office/drawing/2014/main" val="4160613981"/>
                    </a:ext>
                  </a:extLst>
                </a:gridCol>
              </a:tblGrid>
              <a:tr h="601896"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>
                          <a:latin typeface="+mn-lt"/>
                          <a:cs typeface="Arial" panose="020B0604020202020204" pitchFamily="34" charset="0"/>
                        </a:rPr>
                        <a:t>APPLE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latin typeface="+mn-lt"/>
                          <a:cs typeface="Arial" panose="020B0604020202020204" pitchFamily="34" charset="0"/>
                        </a:rPr>
                        <a:t>Firm &amp; AI Company Type Similarity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latin typeface="+mn-lt"/>
                          <a:cs typeface="Arial" panose="020B0604020202020204" pitchFamily="34" charset="0"/>
                        </a:rPr>
                        <a:t>APPLE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>
                          <a:latin typeface="+mn-lt"/>
                          <a:cs typeface="Arial" panose="020B0604020202020204" pitchFamily="34" charset="0"/>
                        </a:rPr>
                        <a:t>Firm &amp; Bin Similarity Score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6630617"/>
                  </a:ext>
                </a:extLst>
              </a:tr>
              <a:tr h="5015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DATA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0.08635391294956207</a:t>
                      </a:r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SMALL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0.36465710401535034</a:t>
                      </a:r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274366"/>
                  </a:ext>
                </a:extLst>
              </a:tr>
              <a:tr h="5015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COMPUTE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0.15919438004493713</a:t>
                      </a:r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0.2631009817123413</a:t>
                      </a:r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71508"/>
                  </a:ext>
                </a:extLst>
              </a:tr>
              <a:tr h="5015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MODELING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0.39405983686447144</a:t>
                      </a:r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0.18578727543354034</a:t>
                      </a:r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6384641"/>
                  </a:ext>
                </a:extLst>
              </a:tr>
              <a:tr h="501580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bg1"/>
                          </a:solidFill>
                          <a:latin typeface="+mn-lt"/>
                        </a:rPr>
                        <a:t>APPLICATIONS</a:t>
                      </a: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0.30912792682647705</a:t>
                      </a:r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4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935587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2E4532-B0F6-5A08-D1DE-E41CAAEDF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B10750-45EB-B694-5E12-95435AFE465F}"/>
              </a:ext>
            </a:extLst>
          </p:cNvPr>
          <p:cNvSpPr txBox="1"/>
          <p:nvPr/>
        </p:nvSpPr>
        <p:spPr>
          <a:xfrm>
            <a:off x="444500" y="4672926"/>
            <a:ext cx="11134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Apple shows weaker similarity to compute and data focused firms, suggesting less infrastructure-related acquisition activity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Apple is most similar to modeling and applications companies in the acquisition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Apple’s acquisition pattern is closer to smaller firms than larger firms in the network</a:t>
            </a:r>
          </a:p>
        </p:txBody>
      </p:sp>
    </p:spTree>
    <p:extLst>
      <p:ext uri="{BB962C8B-B14F-4D97-AF65-F5344CB8AC3E}">
        <p14:creationId xmlns:p14="http://schemas.microsoft.com/office/powerpoint/2010/main" val="2158915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34FA-E352-E0E8-0E1C-55AA79038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Testing &amp; Visualization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E5CEB2-3EF9-2184-B253-8C70C606B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4938" y="6175927"/>
            <a:ext cx="4064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263D6C4-4840-40CC-AC84-17E24B3B7BDE}" type="slidenum">
              <a:rPr lang="en-US" noProof="0" smtClean="0"/>
              <a:pPr>
                <a:spcAft>
                  <a:spcPts val="600"/>
                </a:spcAft>
              </a:pPr>
              <a:t>8</a:t>
            </a:fld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F70C1-9CDD-ECE2-59F8-0EE8B8C48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500" y="1428060"/>
            <a:ext cx="5652635" cy="2140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Validation of similarity scores:</a:t>
            </a:r>
          </a:p>
          <a:p>
            <a:r>
              <a:rPr lang="en-US" sz="2000" dirty="0"/>
              <a:t>Compared cosine similarity scores with raw acquisition counts across AI categories and bins</a:t>
            </a:r>
          </a:p>
          <a:p>
            <a:r>
              <a:rPr lang="en-US" sz="2000" dirty="0"/>
              <a:t>Confirmed the similarity patterns reflect the acquisition data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00E503F-5BCA-784D-CDE1-0F999C824437}"/>
              </a:ext>
            </a:extLst>
          </p:cNvPr>
          <p:cNvSpPr txBox="1">
            <a:spLocks/>
          </p:cNvSpPr>
          <p:nvPr/>
        </p:nvSpPr>
        <p:spPr>
          <a:xfrm>
            <a:off x="7515094" y="2835963"/>
            <a:ext cx="2908852" cy="402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 dirty="0"/>
              <a:t>Interactive dashboard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487624-C1D5-3157-7085-ABD09967B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90579"/>
              </p:ext>
            </p:extLst>
          </p:nvPr>
        </p:nvGraphicFramePr>
        <p:xfrm>
          <a:off x="606018" y="3836125"/>
          <a:ext cx="532846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3125">
                  <a:extLst>
                    <a:ext uri="{9D8B030D-6E8A-4147-A177-3AD203B41FA5}">
                      <a16:colId xmlns:a16="http://schemas.microsoft.com/office/drawing/2014/main" val="1955672904"/>
                    </a:ext>
                  </a:extLst>
                </a:gridCol>
                <a:gridCol w="464689">
                  <a:extLst>
                    <a:ext uri="{9D8B030D-6E8A-4147-A177-3AD203B41FA5}">
                      <a16:colId xmlns:a16="http://schemas.microsoft.com/office/drawing/2014/main" val="4191606561"/>
                    </a:ext>
                  </a:extLst>
                </a:gridCol>
                <a:gridCol w="641601">
                  <a:extLst>
                    <a:ext uri="{9D8B030D-6E8A-4147-A177-3AD203B41FA5}">
                      <a16:colId xmlns:a16="http://schemas.microsoft.com/office/drawing/2014/main" val="1535058567"/>
                    </a:ext>
                  </a:extLst>
                </a:gridCol>
                <a:gridCol w="1173480">
                  <a:extLst>
                    <a:ext uri="{9D8B030D-6E8A-4147-A177-3AD203B41FA5}">
                      <a16:colId xmlns:a16="http://schemas.microsoft.com/office/drawing/2014/main" val="2363214960"/>
                    </a:ext>
                  </a:extLst>
                </a:gridCol>
                <a:gridCol w="464689">
                  <a:extLst>
                    <a:ext uri="{9D8B030D-6E8A-4147-A177-3AD203B41FA5}">
                      <a16:colId xmlns:a16="http://schemas.microsoft.com/office/drawing/2014/main" val="3437813103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616242463"/>
                    </a:ext>
                  </a:extLst>
                </a:gridCol>
              </a:tblGrid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5926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0433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336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3917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APPLICATIONS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00297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F9672909-C01A-024C-2D59-7616C764C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177" y="351487"/>
            <a:ext cx="4170166" cy="2433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752A5E-6350-C9CF-E26E-636577302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5881" y="3289851"/>
            <a:ext cx="3467278" cy="32767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B07FF80-1209-6B02-B758-C7345E12856D}"/>
              </a:ext>
            </a:extLst>
          </p:cNvPr>
          <p:cNvSpPr/>
          <p:nvPr/>
        </p:nvSpPr>
        <p:spPr>
          <a:xfrm>
            <a:off x="6767458" y="248478"/>
            <a:ext cx="4404125" cy="642067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38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BBAA-FA0B-D312-93D2-F2D4E2210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 &amp;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38D3CD-B802-2EA8-7B0C-AA79F391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AA4FF-FFEB-C567-7106-8C84D17481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446481"/>
            <a:ext cx="6718300" cy="4526937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Conclusion:</a:t>
            </a:r>
          </a:p>
          <a:p>
            <a:r>
              <a:rPr lang="en-US" sz="1800" dirty="0"/>
              <a:t>Node2vec embeddings effectively capture firm similarity in the acquisition network</a:t>
            </a:r>
          </a:p>
          <a:p>
            <a:r>
              <a:rPr lang="en-US" sz="1800" dirty="0"/>
              <a:t>Firms form different clusters across AI category areas and firms size bins</a:t>
            </a:r>
          </a:p>
          <a:p>
            <a:r>
              <a:rPr lang="en-US" sz="1800" dirty="0"/>
              <a:t>Specifically looking at Apple, they show stronger alignment with modeling and applications focused firms rather than infrastructure focused firms</a:t>
            </a:r>
          </a:p>
          <a:p>
            <a:pPr marL="0" indent="0">
              <a:buNone/>
            </a:pPr>
            <a:r>
              <a:rPr lang="en-US" sz="1800" b="1" dirty="0"/>
              <a:t>Future Works:</a:t>
            </a:r>
          </a:p>
          <a:p>
            <a:r>
              <a:rPr lang="en-US" sz="1800" dirty="0"/>
              <a:t>Explore how different choices related to graph construction and dataset scope affect similarity results</a:t>
            </a:r>
          </a:p>
          <a:p>
            <a:r>
              <a:rPr lang="en-US" sz="1800" dirty="0"/>
              <a:t>Expand dataset beyond full mergers and acquisitions to include partial acquisitions, minority stakes, and strategic investments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2EF8BF-8445-0AAC-1C4E-88EB92011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769" y="771596"/>
            <a:ext cx="4235329" cy="5314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705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5179</TotalTime>
  <Words>593</Words>
  <Application>Microsoft Office PowerPoint</Application>
  <PresentationFormat>Widescreen</PresentationFormat>
  <Paragraphs>140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Trade Gothic LT Pro</vt:lpstr>
      <vt:lpstr>Trebuchet MS</vt:lpstr>
      <vt:lpstr>Office Theme</vt:lpstr>
      <vt:lpstr>Modeling AI Industry Structure Using Knowledge Graph Embeddings</vt:lpstr>
      <vt:lpstr>Introduction &amp; Problem Statement</vt:lpstr>
      <vt:lpstr>PowerPoint Presentation</vt:lpstr>
      <vt:lpstr>Data Collection &amp; Construction</vt:lpstr>
      <vt:lpstr>Modeling M&amp;A as a Knowledge Graph</vt:lpstr>
      <vt:lpstr>Methodology</vt:lpstr>
      <vt:lpstr>Results/Discussion</vt:lpstr>
      <vt:lpstr>Testing &amp; Visualization</vt:lpstr>
      <vt:lpstr>Future Work &amp; 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Dillon</dc:creator>
  <cp:lastModifiedBy>Alex Dillon</cp:lastModifiedBy>
  <cp:revision>1</cp:revision>
  <dcterms:created xsi:type="dcterms:W3CDTF">2026-04-16T22:00:37Z</dcterms:created>
  <dcterms:modified xsi:type="dcterms:W3CDTF">2026-04-24T04:45:51Z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